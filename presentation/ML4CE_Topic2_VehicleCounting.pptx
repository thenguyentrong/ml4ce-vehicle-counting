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 Question first, then the names. Short pause after 'It is not.'</a:t>
            </a:r>
          </a:p>
          <a:p/>
          <a:p>
            <a:r>
              <a:t>A camera looks at a street. How many cars just drove past? ... Sounds trivial. It is not.</a:t>
            </a:r>
          </a:p>
          <a:p/>
          <a:p>
            <a:r>
              <a:t>Hello! We are Vinh, Ali and Rexhep. This is our ML4CE semester project, Topic 2.</a:t>
            </a:r>
          </a:p>
          <a:p/>
          <a:p>
            <a:r>
              <a:t>Two parts: first we build a car detector ourselves, from scratch. Then we use it to count traffic in a video.</a:t>
            </a:r>
          </a:p>
          <a:p/>
          <a:p>
            <a:r>
              <a:t>One thing up front: we show you the numbers that worked - and the ones that did not.</a:t>
            </a:r>
          </a:p>
          <a:p/>
          <a:p>
            <a:r>
              <a:t>(Straight on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a:t>
            </a:r>
          </a:p>
          <a:p/>
          <a:p>
            <a:r>
              <a:t>Quick context: the task sheet asks for two things.</a:t>
            </a:r>
          </a:p>
          <a:p/>
          <a:p>
            <a:r>
              <a:t>Part 1: a detector. Image in, boxes out. Not a library - our own head on a pretrained backbone. The point is to understand what a detector actually does inside.</a:t>
            </a:r>
          </a:p>
          <a:p/>
          <a:p>
            <a:r>
              <a:t>Part 2: counting. Same street, but in a video. And that is a different problem, because the count depends on three stages, not one: detect, track, count.</a:t>
            </a:r>
          </a:p>
          <a:p/>
          <a:p>
            <a:r>
              <a:t>And the grade is not only the final number. It is: what did you try, what worked, what did not - and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1001 images, 559 boxes, 676 by 380 pixels. One class: vehicle.</a:t>
            </a:r>
          </a:p>
          <a:p/>
          <a:p>
            <a:r>
              <a:t>Two thirds of the frames show empty road. We keep them - they teach the model what 'no car' looks like.</a:t>
            </a:r>
          </a:p>
          <a:p/>
          <a:p>
            <a:r>
              <a:t>The cars are small: half of them cover less than 1.6 percent of the image. Remember that number, it comes back later.</a:t>
            </a:r>
          </a:p>
          <a:p/>
          <a:p>
            <a:r>
              <a:t>And now the sentence that decides everything after it: all 1001 images are frames of one single video. Two thirds of a second apart. So two neighbouring images are almost the same picture.</a:t>
            </a:r>
          </a:p>
          <a:p/>
          <a:p>
            <a:r>
              <a:t>(Say the last line slowly.)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a:t>
            </a:r>
          </a:p>
          <a:p/>
          <a:p>
            <a:r>
              <a:t>So what happens if you split that randomly? One frame goes into training, its twin goes into the test set. Then you are not testing the model any more - you are testing its memory.</a:t>
            </a:r>
          </a:p>
          <a:p/>
          <a:p>
            <a:r>
              <a:t>Same model, same settings, only the split changed: validation F1 reads 0.78 instead of 0.55. A difference of 0.23 - and it is pure illusion.</a:t>
            </a:r>
          </a:p>
          <a:p/>
          <a:p>
            <a:r>
              <a:t>We split along time instead: earliest 80 percent train, next 15 validation, last 5 test. Nothing else changed.</a:t>
            </a:r>
          </a:p>
          <a:p/>
          <a:p>
            <a:r>
              <a:t>Everything you see from here on is the honest number.</a:t>
            </a:r>
          </a:p>
          <a:p/>
          <a:p>
            <a:r>
              <a:t>[short pause]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So how does the detector work? A network has a fixed output size. But an image can contain zero cars, or seven. You cannot simply 'output a list'.</a:t>
            </a:r>
          </a:p>
          <a:p/>
          <a:p>
            <a:r>
              <a:t>The trick: cut the image into a grid, 16 by 16. And ask every cell one small question - is there a car centre inside you? If yes: where exactly, and how big?</a:t>
            </a:r>
          </a:p>
          <a:p/>
          <a:p>
            <a:r>
              <a:t>That is five numbers per cell. All between 0 and 1, so a simple sigmoid can produce them. No anchor boxes needed.</a:t>
            </a:r>
          </a:p>
          <a:p/>
          <a:p>
            <a:r>
              <a:t>And one detail that saved us: encoding and decoding are exact opposites, and a test proves it. If those two disagree, the loss still looks perfectly healthy and every box is quietly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This is the configuration the task sheet prescribes: ResNet18 frozen, one positive cell per car. We built exactly that first, so every later gain belongs to one specific change.</a:t>
            </a:r>
          </a:p>
          <a:p/>
          <a:p>
            <a:r>
              <a:t>F1 0.423. Honestly: not good.</a:t>
            </a:r>
          </a:p>
          <a:p/>
          <a:p>
            <a:r>
              <a:t>Two caveats we say out loud. The test set is 50 images with 38 boxes - one bad frame moves F1 by several points, so validation is the number we trust.</a:t>
            </a:r>
          </a:p>
          <a:p/>
          <a:p>
            <a:r>
              <a:t>And the curve on the right: after epoch 17 the validation loss stops improving while the training loss keeps falling. More training cannot help here. Only more data, or more varied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So we changed one thing at a time. Twelve runs.</a:t>
            </a:r>
          </a:p>
          <a:p/>
          <a:p>
            <a:r>
              <a:t>Do not read the whole chart - look at the two black bars. At the bottom the task sheet's configuration, 0.423. At the top ours, 0.904. AP50 goes from 0.213 to 0.871, four times better.</a:t>
            </a:r>
          </a:p>
          <a:p/>
          <a:p>
            <a:r>
              <a:t>Everything in between differs from the baseline in exactly one thing: another backbone, another loss, another assignment rule.</a:t>
            </a:r>
          </a:p>
          <a:p/>
          <a:p>
            <a:r>
              <a:t>And two of those changes explain almost the whole jump.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a:t>
            </a:r>
          </a:p>
          <a:p/>
          <a:p>
            <a:r>
              <a:t>Lever one: unfreeze the backbone. Plus 0.42 F1 on its own.</a:t>
            </a:r>
          </a:p>
          <a:p/>
          <a:p>
            <a:r>
              <a:t>Why? The backbone was pretrained on ImageNet - object photos, one big sharp dog in the middle. Our cars are small, motion-blurred, filmed from a moving car. Those features simply do not fit, and no head can repair a bad input. The task sheet says you do not need to train the backbone - that is permission, not prohibition. So we report both versions.</a:t>
            </a:r>
          </a:p>
          <a:p/>
          <a:p>
            <a:r>
              <a:t>Lever two: multi-cell assignment. Plus 0.23.</a:t>
            </a:r>
          </a:p>
          <a:p/>
          <a:p>
            <a:r>
              <a:t>The rule says only the centre cell is positive. That gives 453 positive signals in the entire training set. But the neighbouring cells fire anyway - they were simply never told which box to predict, so they emit fragments. One car, two errors: a false alarm and a miss at the same time.</a:t>
            </a:r>
          </a:p>
          <a:p/>
          <a:p>
            <a:r>
              <a:t>We train the centre cell plus its two neighbours on the same box. Now they agree with each other, and NMS merges them. False positives on the test set drop from 18 to 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And these are the ideas that lost. We keep them on the slide on purpose.</a:t>
            </a:r>
          </a:p>
          <a:p/>
          <a:p>
            <a:r>
              <a:t>CIoU loss - in theory better, because it optimises exactly what we measure. It was worse. Focal loss - the worst run of all. Our augmentation, flip and colour jitter - changed nothing, because this data does not lack colour. It lacks scale and viewpoint.</a:t>
            </a:r>
          </a:p>
          <a:p/>
          <a:p>
            <a:r>
              <a:t>The interesting row is the fourth one: 640 pixels has the better F1, but it finds exactly the same 33 cars. One false positive fewer, that is all. So we kept the 512 the task sheet specifies - claiming an improvement on one single box would be dishonest.</a:t>
            </a:r>
          </a:p>
          <a:p/>
          <a:p>
            <a:r>
              <a:t>And the last line: we got this table wrong twice ourselves before it was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So where are the misses? On the left: precision stays above 0.95 up to recall 0.87 - and then the curve falls off a cliff. About 13 percent of the cars are never found, at any threshold.</a:t>
            </a:r>
          </a:p>
          <a:p/>
          <a:p>
            <a:r>
              <a:t>On the right: recall by car size. Above one percent of the image we find every single one, 22 out of 22. Below that we start losing them.</a:t>
            </a:r>
          </a:p>
          <a:p/>
          <a:p>
            <a:r>
              <a:t>So every miss is a small, distant car. That reads like a resolution problem - which is why we tested bigger inputs. It is not one. The real fix is a feature pyramid, or more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a:t>
            </a:r>
          </a:p>
          <a:p/>
          <a:p>
            <a:r>
              <a:t>So this is Part 1: precision 0.943, recall 0.868, F1 0.904. Measured on frames from the end of the video that the model has never seen.</a:t>
            </a:r>
          </a:p>
          <a:p/>
          <a:p>
            <a:r>
              <a:t>Grey is the ground truth, black is our prediction - they sit right on top of each other.</a:t>
            </a:r>
          </a:p>
          <a:p/>
          <a:p>
            <a:r>
              <a:t>And one honest caveat: some frames label one car and leave other clearly visible cars unlabelled. A correct detection there counts against us as a false alarm. So our precision is a lower bound, not the true value.</a:t>
            </a:r>
          </a:p>
          <a:p/>
          <a:p>
            <a:r>
              <a:t>(Hand over to Part 2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a:t>
            </a:r>
          </a:p>
          <a:p/>
          <a:p>
            <a:r>
              <a:t>Part 2. Same street, new problem.</a:t>
            </a:r>
          </a:p>
          <a:p/>
          <a:p>
            <a:r>
              <a:t>Three stages: the detector finds boxes in every frame, the tracker gives them an identity, and the counter watches one line.</a:t>
            </a:r>
          </a:p>
          <a:p/>
          <a:p>
            <a:r>
              <a:t>Green box with a number is a tracked car. Orange means already counted - it cannot count a second time. The red line is the counting line.</a:t>
            </a:r>
          </a:p>
          <a:p/>
          <a:p>
            <a:r>
              <a:t>And the rule, this one matters: a car is counted when its centre crosses the line. Not when it appears. The manual count uses exactly the same rule, otherwise human and machine answer different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First question: which detector? We fine-tuned YOLO11n on our own data and compared it against the off-the-shelf COCO model.</a:t>
            </a:r>
          </a:p>
          <a:p/>
          <a:p>
            <a:r>
              <a:t>Look at the two frames - same moment in the video. Ours finds 5 cars, the standard model finds 9.</a:t>
            </a:r>
          </a:p>
          <a:p/>
          <a:p>
            <a:r>
              <a:t>And now the surprise: the model with twice as many detections counts fewer cars. 29 against 47.</a:t>
            </a:r>
          </a:p>
          <a:p/>
          <a:p>
            <a:r>
              <a:t>Why? It spends its detections on parked cars and pedestrians that never cross the line. And its boxes jump around, so tracks break apart - 21 tracks per counted car instead of 8.7.</a:t>
            </a:r>
          </a:p>
          <a:p/>
          <a:p>
            <a:r>
              <a:t>More detections is not better. And by the way, we predicted the opposite: we thought fine-tuning on dashcam images would hurt on a static street camera.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a:t>
            </a:r>
          </a:p>
          <a:p/>
          <a:p>
            <a:r>
              <a:t>The tracker is ours, not a library.</a:t>
            </a:r>
          </a:p>
          <a:p/>
          <a:p>
            <a:r>
              <a:t>It matches boxes between frames by overlap - a car barely moves in one thirtieth of a second, so its box overlaps itself. Hungarian matching solves that optimally for the whole frame, greedy simply takes the best pair first. On this video: exactly the same result, 47 to 47.</a:t>
            </a:r>
          </a:p>
          <a:p/>
          <a:p>
            <a:r>
              <a:t>The thresholds are in seconds, not frames. Sounds like a detail - but 10 frames means 0.33 seconds at 30 fps and 0.17 at 60. On someone else's video the same setting would quietly behave differently.</a:t>
            </a:r>
          </a:p>
          <a:p/>
          <a:p>
            <a:r>
              <a:t>And my favourite: a car whose centre landed exactly on the line was treated as a third state, and the crossing disappeared. On the video that looks like nothing at all - just a count that is too low. A unit test found it, the video never would have.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a:t>
            </a:r>
          </a:p>
          <a:p/>
          <a:p>
            <a:r>
              <a:t>Honestly, the hardest part of Part 2 was not the tracker. It was choosing the video.</a:t>
            </a:r>
          </a:p>
          <a:p/>
          <a:p>
            <a:r>
              <a:t>Four things have to be true at the same time: static camera, both directions, countable by a human, daylight.</a:t>
            </a:r>
          </a:p>
          <a:p/>
          <a:p>
            <a:r>
              <a:t>We picked the T-junction clip. Static, daylight, both directions visible - every check passed. Then we tracked it and it fell apart: the traffic disperses, only 15 of 34 moving cars cross any line at all, and 14 of them the same way.</a:t>
            </a:r>
          </a:p>
          <a:p/>
          <a:p>
            <a:r>
              <a:t>The requirement was never 'both directions are visible'. It is: one line exists that both flows cross. And you cannot see that in a still image - only in the trajectories.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a:t>
            </a:r>
          </a:p>
          <a:p/>
          <a:p>
            <a:r>
              <a:t>The result: 47 cars automatically, 43 counted by hand. Plus four - 9.3 percent over.</a:t>
            </a:r>
          </a:p>
          <a:p/>
          <a:p>
            <a:r>
              <a:t>The flat part after 44 seconds is the red light, not a failure.</a:t>
            </a:r>
          </a:p>
          <a:p/>
          <a:p>
            <a:r>
              <a:t>And we over-count for a reason we can name: our tracker has no motion model. One missed frame ends the track, the car comes back with a new ID - and crosses the line a second time.</a:t>
            </a:r>
          </a:p>
          <a:p/>
          <a:p>
            <a:r>
              <a:t>What is still open, and we say it openly: the manual count has a total, but not the split per direction. So we do not claim any per-direction accuracy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 Play the video, talk over it.</a:t>
            </a:r>
          </a:p>
          <a:p/>
          <a:p>
            <a:r>
              <a:t>[START VIDEO - let it run]</a:t>
            </a:r>
          </a:p>
          <a:p/>
          <a:p>
            <a:r>
              <a:t>Watch one car crossing the red line, and the counter stepping up.</a:t>
            </a:r>
          </a:p>
          <a:p/>
          <a:p>
            <a:r>
              <a:t>And look at the orange boxes: those are already counted. They can drive around all day, they will not count again.</a:t>
            </a:r>
          </a:p>
          <a:p/>
          <a:p>
            <a:r>
              <a:t>(After 10-15 seconds, move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a:t>
            </a:r>
          </a:p>
          <a:p/>
          <a:p>
            <a:r>
              <a:t>Is 9.3 percent good or bad? That depends on where the camera hangs.</a:t>
            </a:r>
          </a:p>
          <a:p/>
          <a:p>
            <a:r>
              <a:t>From above, published systems reach about one percent. From a low camera like ours: around ten.</a:t>
            </a:r>
          </a:p>
          <a:p/>
          <a:p>
            <a:r>
              <a:t>Same footage, same detector, only the viewing angle changed: 1.8 percent from above against 28 in perspective view. Camera height explains more than the algorithm does.</a:t>
            </a:r>
          </a:p>
          <a:p/>
          <a:p>
            <a:r>
              <a:t>So our number is normal for a street-level camera - and for a tracker without a Kalman filter, the literature would have predicted far worse.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a:t>
            </a:r>
          </a:p>
          <a:p/>
          <a:p>
            <a:r>
              <a:t>Where does our error actually live? Cars hide each other - 43.5 percent of our detections overlap another one. That is geometry, not code.</a:t>
            </a:r>
          </a:p>
          <a:p/>
          <a:p>
            <a:r>
              <a:t>Next steps, in order of effect: a Kalman filter or DeepSORT against the broken tracks. Then a feature pyramid for the small cars in Part 1. And finish the manual count per direction.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SEC. + questions.</a:t>
            </a:r>
          </a:p>
          <a:p/>
          <a:p>
            <a:r>
              <a:t>One last point, and it matters after submission: the model gets tested on data we have never seen. Both parts already run on new data - one command for a folder of images, one for a new video. No code changes needed.</a:t>
            </a:r>
          </a:p>
          <a:p/>
          <a:p>
            <a:r>
              <a:t>Weights, the output video and 33 unit tests ship with the code.</a:t>
            </a:r>
          </a:p>
          <a:p/>
          <a:p>
            <a:r>
              <a:t>Thank you! Questions are very welcome.</a:t>
            </a:r>
          </a:p>
          <a:p/>
          <a:p>
            <a:r>
              <a:t>LIKELY QUESTIONS</a:t>
            </a:r>
          </a:p>
          <a:p>
            <a:r>
              <a:t>- Why build a detector if YOLO exists? The task asks for it - and we compare: our head 0.904 F1, fine-tuned YOLO 0.984 on the same split.</a:t>
            </a:r>
          </a:p>
          <a:p>
            <a:r>
              <a:t>- Is 47 the correct number? The manual total is 43, so we are 9.3 percent over. That is net, not gross - the per-direction split is not recorded yet.</a:t>
            </a:r>
          </a:p>
          <a:p>
            <a:r>
              <a:t>- Why only 60 seconds? Because a human has to count it once, reliably. Longer clips are not hand-countable.</a:t>
            </a:r>
          </a:p>
          <a:p>
            <a:r>
              <a:t>- Would it work on your video? Yes, one command - but the counting line has to be measured again, that is what suggest_line does.</a:t>
            </a:r>
          </a:p>
          <a:p>
            <a:r>
              <a:t>- Why no Kalman filter? Not required by the task. And we can name exactly what it would fix: the broken tracks that cause our over-count.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6.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ML4CE · SEMESTER PROJECT · TOPIC 2</a:t>
            </a:r>
          </a:p>
        </p:txBody>
      </p:sp>
      <p:sp>
        <p:nvSpPr>
          <p:cNvPr id="3" name="TextBox 2"/>
          <p:cNvSpPr txBox="1"/>
          <p:nvPr/>
        </p:nvSpPr>
        <p:spPr>
          <a:xfrm>
            <a:off x="6675120" y="457200"/>
            <a:ext cx="4892040" cy="274320"/>
          </a:xfrm>
          <a:prstGeom prst="rect">
            <a:avLst/>
          </a:prstGeom>
          <a:noFill/>
        </p:spPr>
        <p:txBody>
          <a:bodyPr wrap="square" anchor="t" lIns="0" rIns="0" tIns="0" bIns="0">
            <a:noAutofit/>
          </a:bodyPr>
          <a:lstStyle/>
          <a:p>
            <a:pPr algn="r"/>
            <a:r>
              <a:rPr sz="1100" b="0" spc="160">
                <a:solidFill>
                  <a:srgbClr val="4A5568"/>
                </a:solidFill>
                <a:latin typeface="JetBrains Mono"/>
              </a:rPr>
              <a:t>RWTH AACHEN UNIVERSITY</a:t>
            </a:r>
          </a:p>
        </p:txBody>
      </p:sp>
      <p:sp>
        <p:nvSpPr>
          <p:cNvPr id="4" name="TextBox 3"/>
          <p:cNvSpPr txBox="1"/>
          <p:nvPr/>
        </p:nvSpPr>
        <p:spPr>
          <a:xfrm>
            <a:off x="609904" y="1874519"/>
            <a:ext cx="11155680" cy="2194560"/>
          </a:xfrm>
          <a:prstGeom prst="rect">
            <a:avLst/>
          </a:prstGeom>
          <a:noFill/>
        </p:spPr>
        <p:txBody>
          <a:bodyPr wrap="square" anchor="t" lIns="0" rIns="0" tIns="0" bIns="0">
            <a:noAutofit/>
          </a:bodyPr>
          <a:lstStyle/>
          <a:p>
            <a:pPr>
              <a:lnSpc>
                <a:spcPct val="95000"/>
              </a:lnSpc>
            </a:pPr>
            <a:r>
              <a:rPr sz="8800" b="0">
                <a:solidFill>
                  <a:srgbClr val="111111"/>
                </a:solidFill>
                <a:latin typeface="Montserrat Black"/>
              </a:rPr>
              <a:t>VEHICLE</a:t>
            </a:r>
          </a:p>
          <a:p>
            <a:pPr>
              <a:lnSpc>
                <a:spcPct val="95000"/>
              </a:lnSpc>
            </a:pPr>
            <a:r>
              <a:rPr sz="8800" b="0">
                <a:solidFill>
                  <a:srgbClr val="111111"/>
                </a:solidFill>
                <a:latin typeface="Montserrat Black"/>
              </a:rPr>
              <a:t>COUNTING</a:t>
            </a:r>
          </a:p>
        </p:txBody>
      </p:sp>
      <p:sp>
        <p:nvSpPr>
          <p:cNvPr id="5" name="TextBox 4"/>
          <p:cNvSpPr txBox="1"/>
          <p:nvPr/>
        </p:nvSpPr>
        <p:spPr>
          <a:xfrm>
            <a:off x="609904" y="4206240"/>
            <a:ext cx="9326880" cy="914400"/>
          </a:xfrm>
          <a:prstGeom prst="rect">
            <a:avLst/>
          </a:prstGeom>
          <a:noFill/>
        </p:spPr>
        <p:txBody>
          <a:bodyPr wrap="square" anchor="t" lIns="0" rIns="0" tIns="0" bIns="0">
            <a:noAutofit/>
          </a:bodyPr>
          <a:lstStyle/>
          <a:p>
            <a:pPr>
              <a:lnSpc>
                <a:spcPct val="145000"/>
              </a:lnSpc>
            </a:pPr>
            <a:r>
              <a:rPr sz="1700" b="1">
                <a:solidFill>
                  <a:srgbClr val="111111"/>
                </a:solidFill>
                <a:latin typeface="Montserrat"/>
              </a:rPr>
              <a:t>A detector built from scratch</a:t>
            </a:r>
            <a:r>
              <a:rPr sz="1700" b="0">
                <a:solidFill>
                  <a:srgbClr val="111111"/>
                </a:solidFill>
                <a:latin typeface="Montserrat Light"/>
              </a:rPr>
              <a:t>, and a counting pipeline for traffic video.</a:t>
            </a:r>
          </a:p>
        </p:txBody>
      </p:sp>
      <p:sp>
        <p:nvSpPr>
          <p:cNvPr id="6" name="TextBox 5"/>
          <p:cNvSpPr txBox="1"/>
          <p:nvPr/>
        </p:nvSpPr>
        <p:spPr>
          <a:xfrm>
            <a:off x="609904" y="5440680"/>
            <a:ext cx="10972800" cy="320040"/>
          </a:xfrm>
          <a:prstGeom prst="rect">
            <a:avLst/>
          </a:prstGeom>
          <a:noFill/>
        </p:spPr>
        <p:txBody>
          <a:bodyPr wrap="square" anchor="t" lIns="0" rIns="0" tIns="0" bIns="0">
            <a:noAutofit/>
          </a:bodyPr>
          <a:lstStyle/>
          <a:p>
            <a:r>
              <a:rPr sz="1150" b="0" spc="120">
                <a:solidFill>
                  <a:srgbClr val="111111"/>
                </a:solidFill>
                <a:latin typeface="JetBrains Mono"/>
              </a:rPr>
              <a:t>THE VINH NGUYEN TRONG   ·   ALI AWADA   ·   REXHEP AZEMI</a:t>
            </a:r>
          </a:p>
        </p:txBody>
      </p:sp>
      <p:sp>
        <p:nvSpPr>
          <p:cNvPr id="7" name="Rectangle 6"/>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272784"/>
            <a:ext cx="7315200" cy="274320"/>
          </a:xfrm>
          <a:prstGeom prst="rect">
            <a:avLst/>
          </a:prstGeom>
          <a:noFill/>
        </p:spPr>
        <p:txBody>
          <a:bodyPr wrap="square" anchor="t" lIns="0" rIns="0" tIns="0" bIns="0">
            <a:noAutofit/>
          </a:bodyPr>
          <a:lstStyle/>
          <a:p>
            <a:r>
              <a:rPr sz="850" b="0" spc="120">
                <a:solidFill>
                  <a:srgbClr val="111111"/>
                </a:solidFill>
                <a:latin typeface="JetBrains Mono"/>
              </a:rPr>
              <a:t>PART 1 </a:t>
            </a:r>
            <a:r>
              <a:rPr sz="850" b="0" spc="120">
                <a:solidFill>
                  <a:srgbClr val="666666"/>
                </a:solidFill>
                <a:latin typeface="JetBrains Mono"/>
              </a:rPr>
              <a:t>DETECTOR FROM SCRATCH   ·   </a:t>
            </a:r>
            <a:r>
              <a:rPr sz="850" b="0" spc="120">
                <a:solidFill>
                  <a:srgbClr val="111111"/>
                </a:solidFill>
                <a:latin typeface="JetBrains Mono"/>
              </a:rPr>
              <a:t>PART 2 </a:t>
            </a:r>
            <a:r>
              <a:rPr sz="850" b="0" spc="120">
                <a:solidFill>
                  <a:srgbClr val="666666"/>
                </a:solidFill>
                <a:latin typeface="JetBrains Mono"/>
              </a:rPr>
              <a:t>COUNTING IN VIDEO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THE TASK</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Two parts, one pipeline</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Detect vehicles in images, then count them in a video</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904" y="2194560"/>
            <a:ext cx="1887138" cy="86868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9632" y="2331720"/>
            <a:ext cx="1667682" cy="68580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IMAGES</a:t>
            </a:r>
          </a:p>
          <a:p>
            <a:pPr>
              <a:lnSpc>
                <a:spcPct val="110000"/>
              </a:lnSpc>
            </a:pPr>
            <a:r>
              <a:rPr sz="950" b="0">
                <a:solidFill>
                  <a:srgbClr val="666666"/>
                </a:solidFill>
                <a:latin typeface="Montserrat Light"/>
              </a:rPr>
              <a:t>1001 dashcam frames</a:t>
            </a:r>
          </a:p>
        </p:txBody>
      </p:sp>
      <p:sp>
        <p:nvSpPr>
          <p:cNvPr id="8" name="TextBox 7"/>
          <p:cNvSpPr txBox="1"/>
          <p:nvPr/>
        </p:nvSpPr>
        <p:spPr>
          <a:xfrm>
            <a:off x="2497042" y="249174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9" name="Rectangle 8"/>
          <p:cNvSpPr/>
          <p:nvPr/>
        </p:nvSpPr>
        <p:spPr>
          <a:xfrm>
            <a:off x="2881090" y="2194560"/>
            <a:ext cx="1887138" cy="86868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818" y="2331720"/>
            <a:ext cx="1667682" cy="68580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DETECTOR</a:t>
            </a:r>
          </a:p>
          <a:p>
            <a:pPr>
              <a:lnSpc>
                <a:spcPct val="110000"/>
              </a:lnSpc>
            </a:pPr>
            <a:r>
              <a:rPr sz="950" b="0">
                <a:solidFill>
                  <a:srgbClr val="666666"/>
                </a:solidFill>
                <a:latin typeface="Montserrat Light"/>
              </a:rPr>
              <a:t>our own head</a:t>
            </a:r>
          </a:p>
        </p:txBody>
      </p:sp>
      <p:sp>
        <p:nvSpPr>
          <p:cNvPr id="11" name="TextBox 10"/>
          <p:cNvSpPr txBox="1"/>
          <p:nvPr/>
        </p:nvSpPr>
        <p:spPr>
          <a:xfrm>
            <a:off x="4768228" y="249174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12" name="Rectangle 11"/>
          <p:cNvSpPr/>
          <p:nvPr/>
        </p:nvSpPr>
        <p:spPr>
          <a:xfrm>
            <a:off x="5152276" y="2194560"/>
            <a:ext cx="1887138" cy="86868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62004" y="2331720"/>
            <a:ext cx="1667682" cy="68580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VIDEO</a:t>
            </a:r>
          </a:p>
          <a:p>
            <a:pPr>
              <a:lnSpc>
                <a:spcPct val="110000"/>
              </a:lnSpc>
            </a:pPr>
            <a:r>
              <a:rPr sz="950" b="0">
                <a:solidFill>
                  <a:srgbClr val="666666"/>
                </a:solidFill>
                <a:latin typeface="Montserrat Light"/>
              </a:rPr>
              <a:t>60 s of an intersection</a:t>
            </a:r>
          </a:p>
        </p:txBody>
      </p:sp>
      <p:sp>
        <p:nvSpPr>
          <p:cNvPr id="14" name="TextBox 13"/>
          <p:cNvSpPr txBox="1"/>
          <p:nvPr/>
        </p:nvSpPr>
        <p:spPr>
          <a:xfrm>
            <a:off x="7039414" y="249174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15" name="Rectangle 14"/>
          <p:cNvSpPr/>
          <p:nvPr/>
        </p:nvSpPr>
        <p:spPr>
          <a:xfrm>
            <a:off x="7423462" y="2194560"/>
            <a:ext cx="1887138" cy="86868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33190" y="2331720"/>
            <a:ext cx="1667682" cy="68580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TRACKER</a:t>
            </a:r>
          </a:p>
          <a:p>
            <a:pPr>
              <a:lnSpc>
                <a:spcPct val="110000"/>
              </a:lnSpc>
            </a:pPr>
            <a:r>
              <a:rPr sz="950" b="0">
                <a:solidFill>
                  <a:srgbClr val="666666"/>
                </a:solidFill>
                <a:latin typeface="Montserrat Light"/>
              </a:rPr>
              <a:t>IoU + Hungarian, ours</a:t>
            </a:r>
          </a:p>
        </p:txBody>
      </p:sp>
      <p:sp>
        <p:nvSpPr>
          <p:cNvPr id="17" name="TextBox 16"/>
          <p:cNvSpPr txBox="1"/>
          <p:nvPr/>
        </p:nvSpPr>
        <p:spPr>
          <a:xfrm>
            <a:off x="9310600" y="249174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18" name="Rectangle 17"/>
          <p:cNvSpPr/>
          <p:nvPr/>
        </p:nvSpPr>
        <p:spPr>
          <a:xfrm>
            <a:off x="9694648" y="2194560"/>
            <a:ext cx="1887138" cy="86868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04376" y="2331720"/>
            <a:ext cx="1667682" cy="68580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COUNT</a:t>
            </a:r>
          </a:p>
          <a:p>
            <a:pPr>
              <a:lnSpc>
                <a:spcPct val="110000"/>
              </a:lnSpc>
            </a:pPr>
            <a:r>
              <a:rPr sz="950" b="0">
                <a:solidFill>
                  <a:srgbClr val="666666"/>
                </a:solidFill>
                <a:latin typeface="Montserrat Light"/>
              </a:rPr>
              <a:t>per direction</a:t>
            </a:r>
          </a:p>
        </p:txBody>
      </p:sp>
      <p:sp>
        <p:nvSpPr>
          <p:cNvPr id="20" name="TextBox 19"/>
          <p:cNvSpPr txBox="1"/>
          <p:nvPr/>
        </p:nvSpPr>
        <p:spPr>
          <a:xfrm>
            <a:off x="609904" y="3657600"/>
            <a:ext cx="10607040" cy="731520"/>
          </a:xfrm>
          <a:prstGeom prst="rect">
            <a:avLst/>
          </a:prstGeom>
          <a:noFill/>
        </p:spPr>
        <p:txBody>
          <a:bodyPr wrap="square" anchor="t" lIns="0" rIns="0" tIns="0" bIns="0">
            <a:noAutofit/>
          </a:bodyPr>
          <a:lstStyle/>
          <a:p>
            <a:pPr>
              <a:spcAft>
                <a:spcPts val="200"/>
              </a:spcAft>
            </a:pPr>
            <a:r>
              <a:rPr sz="1400" b="0">
                <a:solidFill>
                  <a:srgbClr val="111111"/>
                </a:solidFill>
                <a:latin typeface="Montserrat Black"/>
              </a:rPr>
              <a:t>01  </a:t>
            </a:r>
            <a:r>
              <a:rPr sz="1350" b="1">
                <a:solidFill>
                  <a:srgbClr val="111111"/>
                </a:solidFill>
                <a:latin typeface="Montserrat"/>
              </a:rPr>
              <a:t>Part 1 - build a detector by hand</a:t>
            </a:r>
          </a:p>
          <a:p>
            <a:pPr>
              <a:lnSpc>
                <a:spcPct val="120000"/>
              </a:lnSpc>
            </a:pPr>
            <a:r>
              <a:rPr sz="1150" b="0">
                <a:solidFill>
                  <a:srgbClr val="666666"/>
                </a:solidFill>
                <a:latin typeface="Montserrat Light"/>
              </a:rPr>
              <a:t>Per cell of a 16 x 16 grid: one objectness score, four box values. Then NMS.</a:t>
            </a:r>
          </a:p>
        </p:txBody>
      </p:sp>
      <p:sp>
        <p:nvSpPr>
          <p:cNvPr id="21" name="Rectangle 20"/>
          <p:cNvSpPr/>
          <p:nvPr/>
        </p:nvSpPr>
        <p:spPr>
          <a:xfrm>
            <a:off x="609904" y="4389120"/>
            <a:ext cx="10607040"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4480560"/>
            <a:ext cx="10607040" cy="731520"/>
          </a:xfrm>
          <a:prstGeom prst="rect">
            <a:avLst/>
          </a:prstGeom>
          <a:noFill/>
        </p:spPr>
        <p:txBody>
          <a:bodyPr wrap="square" anchor="t" lIns="0" rIns="0" tIns="0" bIns="0">
            <a:noAutofit/>
          </a:bodyPr>
          <a:lstStyle/>
          <a:p>
            <a:pPr>
              <a:spcAft>
                <a:spcPts val="200"/>
              </a:spcAft>
            </a:pPr>
            <a:r>
              <a:rPr sz="1400" b="0">
                <a:solidFill>
                  <a:srgbClr val="111111"/>
                </a:solidFill>
                <a:latin typeface="Montserrat Black"/>
              </a:rPr>
              <a:t>02  </a:t>
            </a:r>
            <a:r>
              <a:rPr sz="1350" b="1">
                <a:solidFill>
                  <a:srgbClr val="111111"/>
                </a:solidFill>
                <a:latin typeface="Montserrat"/>
              </a:rPr>
              <a:t>Part 2 - count vehicles in a video</a:t>
            </a:r>
          </a:p>
          <a:p>
            <a:pPr>
              <a:lnSpc>
                <a:spcPct val="120000"/>
              </a:lnSpc>
            </a:pPr>
            <a:r>
              <a:rPr sz="1150" b="0">
                <a:solidFill>
                  <a:srgbClr val="666666"/>
                </a:solidFill>
                <a:latin typeface="Montserrat Light"/>
              </a:rPr>
              <a:t>Fine-tuned YOLO-nano, our tracker for stable IDs, one counting line.</a:t>
            </a:r>
          </a:p>
        </p:txBody>
      </p:sp>
      <p:sp>
        <p:nvSpPr>
          <p:cNvPr id="23" name="Rectangle 22"/>
          <p:cNvSpPr/>
          <p:nvPr/>
        </p:nvSpPr>
        <p:spPr>
          <a:xfrm>
            <a:off x="609904" y="5212080"/>
            <a:ext cx="10607040"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 y="5394960"/>
            <a:ext cx="10607040" cy="365760"/>
          </a:xfrm>
          <a:prstGeom prst="rect">
            <a:avLst/>
          </a:prstGeom>
          <a:noFill/>
        </p:spPr>
        <p:txBody>
          <a:bodyPr wrap="square" anchor="t" lIns="0" rIns="0" tIns="0" bIns="0">
            <a:noAutofit/>
          </a:bodyPr>
          <a:lstStyle/>
          <a:p>
            <a:r>
              <a:rPr sz="1050" b="0" spc="120">
                <a:solidFill>
                  <a:srgbClr val="4A5568"/>
                </a:solidFill>
                <a:latin typeface="JetBrains Mono"/>
              </a:rPr>
              <a:t>GRADED ON: WHAT WE TRIED  ·  WHAT WORKED  ·  WHAT DID NOT  ·  WHICH METHOD IS BEST, AND WHY</a:t>
            </a:r>
          </a:p>
        </p:txBody>
      </p:sp>
      <p:sp>
        <p:nvSpPr>
          <p:cNvPr id="25" name="Rectangle 24"/>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27" name="Diamond 26"/>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THE DATA</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1001 images - and one video</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Kaggle car-object-detection, 676 x 380 px, one vehicle class</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ataset_strip.png"/>
          <p:cNvPicPr>
            <a:picLocks noChangeAspect="1"/>
          </p:cNvPicPr>
          <p:nvPr/>
        </p:nvPicPr>
        <p:blipFill>
          <a:blip r:embed="rId2"/>
          <a:stretch>
            <a:fillRect/>
          </a:stretch>
        </p:blipFill>
        <p:spPr>
          <a:xfrm>
            <a:off x="609904" y="2026426"/>
            <a:ext cx="10971885" cy="1524987"/>
          </a:xfrm>
          <a:prstGeom prst="rect">
            <a:avLst/>
          </a:prstGeom>
        </p:spPr>
      </p:pic>
      <p:sp>
        <p:nvSpPr>
          <p:cNvPr id="7" name="TextBox 6"/>
          <p:cNvSpPr txBox="1"/>
          <p:nvPr/>
        </p:nvSpPr>
        <p:spPr>
          <a:xfrm>
            <a:off x="609904" y="3703320"/>
            <a:ext cx="8229600" cy="274320"/>
          </a:xfrm>
          <a:prstGeom prst="rect">
            <a:avLst/>
          </a:prstGeom>
          <a:noFill/>
        </p:spPr>
        <p:txBody>
          <a:bodyPr wrap="square" anchor="t" lIns="0" rIns="0" tIns="0" bIns="0">
            <a:noAutofit/>
          </a:bodyPr>
          <a:lstStyle/>
          <a:p>
            <a:r>
              <a:rPr sz="950" b="0" i="1">
                <a:solidFill>
                  <a:srgbClr val="666666"/>
                </a:solidFill>
                <a:latin typeface="Montserrat Light"/>
              </a:rPr>
              <a:t>Two labelled frames, two frames of empty road - the empty ones are kept as negatives</a:t>
            </a:r>
          </a:p>
        </p:txBody>
      </p:sp>
      <p:sp>
        <p:nvSpPr>
          <p:cNvPr id="8" name="TextBox 7"/>
          <p:cNvSpPr txBox="1"/>
          <p:nvPr/>
        </p:nvSpPr>
        <p:spPr>
          <a:xfrm>
            <a:off x="609904" y="4069080"/>
            <a:ext cx="2194560" cy="731520"/>
          </a:xfrm>
          <a:prstGeom prst="rect">
            <a:avLst/>
          </a:prstGeom>
          <a:noFill/>
        </p:spPr>
        <p:txBody>
          <a:bodyPr wrap="square" anchor="t" lIns="0" rIns="0" tIns="0" bIns="0">
            <a:noAutofit/>
          </a:bodyPr>
          <a:lstStyle/>
          <a:p>
            <a:pPr>
              <a:spcAft>
                <a:spcPts val="200"/>
              </a:spcAft>
            </a:pPr>
            <a:r>
              <a:rPr sz="2600" b="0">
                <a:solidFill>
                  <a:srgbClr val="111111"/>
                </a:solidFill>
                <a:latin typeface="Montserrat Black"/>
              </a:rPr>
              <a:t>1001</a:t>
            </a:r>
          </a:p>
          <a:p>
            <a:r>
              <a:rPr sz="900" b="0" spc="140">
                <a:solidFill>
                  <a:srgbClr val="4A5568"/>
                </a:solidFill>
                <a:latin typeface="JetBrains Mono"/>
              </a:rPr>
              <a:t>IMAGES</a:t>
            </a:r>
          </a:p>
        </p:txBody>
      </p:sp>
      <p:sp>
        <p:nvSpPr>
          <p:cNvPr id="9" name="TextBox 8"/>
          <p:cNvSpPr txBox="1"/>
          <p:nvPr/>
        </p:nvSpPr>
        <p:spPr>
          <a:xfrm>
            <a:off x="2822752" y="4069080"/>
            <a:ext cx="2194560" cy="731520"/>
          </a:xfrm>
          <a:prstGeom prst="rect">
            <a:avLst/>
          </a:prstGeom>
          <a:noFill/>
        </p:spPr>
        <p:txBody>
          <a:bodyPr wrap="square" anchor="t" lIns="0" rIns="0" tIns="0" bIns="0">
            <a:noAutofit/>
          </a:bodyPr>
          <a:lstStyle/>
          <a:p>
            <a:pPr>
              <a:spcAft>
                <a:spcPts val="200"/>
              </a:spcAft>
            </a:pPr>
            <a:r>
              <a:rPr sz="2600" b="0">
                <a:solidFill>
                  <a:srgbClr val="111111"/>
                </a:solidFill>
                <a:latin typeface="Montserrat Black"/>
              </a:rPr>
              <a:t>559</a:t>
            </a:r>
          </a:p>
          <a:p>
            <a:r>
              <a:rPr sz="900" b="0" spc="140">
                <a:solidFill>
                  <a:srgbClr val="4A5568"/>
                </a:solidFill>
                <a:latin typeface="JetBrains Mono"/>
              </a:rPr>
              <a:t>BOUNDING BOXES</a:t>
            </a:r>
          </a:p>
        </p:txBody>
      </p:sp>
      <p:sp>
        <p:nvSpPr>
          <p:cNvPr id="10" name="TextBox 9"/>
          <p:cNvSpPr txBox="1"/>
          <p:nvPr/>
        </p:nvSpPr>
        <p:spPr>
          <a:xfrm>
            <a:off x="5035600" y="4069080"/>
            <a:ext cx="2194560" cy="731520"/>
          </a:xfrm>
          <a:prstGeom prst="rect">
            <a:avLst/>
          </a:prstGeom>
          <a:noFill/>
        </p:spPr>
        <p:txBody>
          <a:bodyPr wrap="square" anchor="t" lIns="0" rIns="0" tIns="0" bIns="0">
            <a:noAutofit/>
          </a:bodyPr>
          <a:lstStyle/>
          <a:p>
            <a:pPr>
              <a:spcAft>
                <a:spcPts val="200"/>
              </a:spcAft>
            </a:pPr>
            <a:r>
              <a:rPr sz="2600" b="0">
                <a:solidFill>
                  <a:srgbClr val="111111"/>
                </a:solidFill>
                <a:latin typeface="Montserrat Black"/>
              </a:rPr>
              <a:t>64.5%</a:t>
            </a:r>
          </a:p>
          <a:p>
            <a:r>
              <a:rPr sz="900" b="0" spc="140">
                <a:solidFill>
                  <a:srgbClr val="4A5568"/>
                </a:solidFill>
                <a:latin typeface="JetBrains Mono"/>
              </a:rPr>
              <a:t>FRAMES WITH NO VEHICLE</a:t>
            </a:r>
          </a:p>
        </p:txBody>
      </p:sp>
      <p:sp>
        <p:nvSpPr>
          <p:cNvPr id="11" name="TextBox 10"/>
          <p:cNvSpPr txBox="1"/>
          <p:nvPr/>
        </p:nvSpPr>
        <p:spPr>
          <a:xfrm>
            <a:off x="7248448" y="4069080"/>
            <a:ext cx="2194560" cy="731520"/>
          </a:xfrm>
          <a:prstGeom prst="rect">
            <a:avLst/>
          </a:prstGeom>
          <a:noFill/>
        </p:spPr>
        <p:txBody>
          <a:bodyPr wrap="square" anchor="t" lIns="0" rIns="0" tIns="0" bIns="0">
            <a:noAutofit/>
          </a:bodyPr>
          <a:lstStyle/>
          <a:p>
            <a:pPr>
              <a:spcAft>
                <a:spcPts val="200"/>
              </a:spcAft>
            </a:pPr>
            <a:r>
              <a:rPr sz="2600" b="0">
                <a:solidFill>
                  <a:srgbClr val="111111"/>
                </a:solidFill>
                <a:latin typeface="Montserrat Black"/>
              </a:rPr>
              <a:t>1.59%</a:t>
            </a:r>
          </a:p>
          <a:p>
            <a:r>
              <a:rPr sz="900" b="0" spc="140">
                <a:solidFill>
                  <a:srgbClr val="4A5568"/>
                </a:solidFill>
                <a:latin typeface="JetBrains Mono"/>
              </a:rPr>
              <a:t>MEDIAN BOX AREA</a:t>
            </a:r>
          </a:p>
        </p:txBody>
      </p:sp>
      <p:sp>
        <p:nvSpPr>
          <p:cNvPr id="12" name="TextBox 11"/>
          <p:cNvSpPr txBox="1"/>
          <p:nvPr/>
        </p:nvSpPr>
        <p:spPr>
          <a:xfrm>
            <a:off x="9461296" y="4069080"/>
            <a:ext cx="2194560" cy="731520"/>
          </a:xfrm>
          <a:prstGeom prst="rect">
            <a:avLst/>
          </a:prstGeom>
          <a:noFill/>
        </p:spPr>
        <p:txBody>
          <a:bodyPr wrap="square" anchor="t" lIns="0" rIns="0" tIns="0" bIns="0">
            <a:noAutofit/>
          </a:bodyPr>
          <a:lstStyle/>
          <a:p>
            <a:pPr>
              <a:spcAft>
                <a:spcPts val="200"/>
              </a:spcAft>
            </a:pPr>
            <a:r>
              <a:rPr sz="2600" b="0">
                <a:solidFill>
                  <a:srgbClr val="111111"/>
                </a:solidFill>
                <a:latin typeface="Montserrat Black"/>
              </a:rPr>
              <a:t>2 / 559</a:t>
            </a:r>
          </a:p>
          <a:p>
            <a:r>
              <a:rPr sz="900" b="0" spc="140">
                <a:solidFill>
                  <a:srgbClr val="4A5568"/>
                </a:solidFill>
                <a:latin typeface="JetBrains Mono"/>
              </a:rPr>
              <a:t>BOXES LOST TO THE GRID</a:t>
            </a:r>
          </a:p>
        </p:txBody>
      </p:sp>
      <p:sp>
        <p:nvSpPr>
          <p:cNvPr id="13" name="TextBox 12"/>
          <p:cNvSpPr txBox="1"/>
          <p:nvPr/>
        </p:nvSpPr>
        <p:spPr>
          <a:xfrm>
            <a:off x="609904" y="5257800"/>
            <a:ext cx="10607040" cy="640080"/>
          </a:xfrm>
          <a:prstGeom prst="rect">
            <a:avLst/>
          </a:prstGeom>
          <a:noFill/>
        </p:spPr>
        <p:txBody>
          <a:bodyPr wrap="square" anchor="t" lIns="0" rIns="0" tIns="0" bIns="0">
            <a:noAutofit/>
          </a:bodyPr>
          <a:lstStyle/>
          <a:p>
            <a:pPr>
              <a:lnSpc>
                <a:spcPct val="140000"/>
              </a:lnSpc>
            </a:pPr>
            <a:r>
              <a:rPr sz="1500" b="1">
                <a:solidFill>
                  <a:srgbClr val="111111"/>
                </a:solidFill>
                <a:latin typeface="Montserrat"/>
              </a:rPr>
              <a:t>All 1001 images are frames of a single video</a:t>
            </a:r>
            <a:r>
              <a:rPr sz="1500" b="0">
                <a:solidFill>
                  <a:srgbClr val="111111"/>
                </a:solidFill>
                <a:latin typeface="Montserrat Light"/>
              </a:rPr>
              <a:t>, about 0.67 s apart - so neighbours are near-duplicates.</a:t>
            </a:r>
          </a:p>
        </p:txBody>
      </p:sp>
      <p:sp>
        <p:nvSpPr>
          <p:cNvPr id="14" name="Rectangle 13"/>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6" name="Diamond 15"/>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FINDING 1 · METHODOLOGY</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A random split leaks</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Same model, same hyperparameters - only the split changed</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plit.png"/>
          <p:cNvPicPr>
            <a:picLocks noChangeAspect="1"/>
          </p:cNvPicPr>
          <p:nvPr/>
        </p:nvPicPr>
        <p:blipFill>
          <a:blip r:embed="rId2"/>
          <a:stretch>
            <a:fillRect/>
          </a:stretch>
        </p:blipFill>
        <p:spPr>
          <a:xfrm>
            <a:off x="609904" y="2096738"/>
            <a:ext cx="5669280" cy="3487483"/>
          </a:xfrm>
          <a:prstGeom prst="rect">
            <a:avLst/>
          </a:prstGeom>
        </p:spPr>
      </p:pic>
      <p:sp>
        <p:nvSpPr>
          <p:cNvPr id="7" name="TextBox 6"/>
          <p:cNvSpPr txBox="1"/>
          <p:nvPr/>
        </p:nvSpPr>
        <p:spPr>
          <a:xfrm>
            <a:off x="6766560" y="2103120"/>
            <a:ext cx="4572000" cy="256032"/>
          </a:xfrm>
          <a:prstGeom prst="rect">
            <a:avLst/>
          </a:prstGeom>
          <a:noFill/>
        </p:spPr>
        <p:txBody>
          <a:bodyPr wrap="square" anchor="t" lIns="0" rIns="0" tIns="0" bIns="0">
            <a:noAutofit/>
          </a:bodyPr>
          <a:lstStyle/>
          <a:p>
            <a:r>
              <a:rPr sz="1000" b="0" spc="150">
                <a:solidFill>
                  <a:srgbClr val="4A5568"/>
                </a:solidFill>
                <a:latin typeface="JetBrains Mono"/>
              </a:rPr>
              <a:t>WHY IT HAPPENS</a:t>
            </a:r>
          </a:p>
        </p:txBody>
      </p:sp>
      <p:sp>
        <p:nvSpPr>
          <p:cNvPr id="8" name="TextBox 7"/>
          <p:cNvSpPr txBox="1"/>
          <p:nvPr/>
        </p:nvSpPr>
        <p:spPr>
          <a:xfrm>
            <a:off x="6766560" y="2468880"/>
            <a:ext cx="4754880" cy="2194560"/>
          </a:xfrm>
          <a:prstGeom prst="rect">
            <a:avLst/>
          </a:prstGeom>
          <a:noFill/>
        </p:spPr>
        <p:txBody>
          <a:bodyPr wrap="square" anchor="t" lIns="0" rIns="0" tIns="0" bIns="0">
            <a:noAutofit/>
          </a:bodyPr>
          <a:lstStyle/>
          <a:p>
            <a:pPr>
              <a:lnSpc>
                <a:spcPct val="135000"/>
              </a:lnSpc>
            </a:pPr>
            <a:r>
              <a:rPr sz="1400" b="0">
                <a:solidFill>
                  <a:srgbClr val="111111"/>
                </a:solidFill>
                <a:latin typeface="Montserrat Light"/>
              </a:rPr>
              <a:t>A random split puts a frame in train and its twin 0.67 s later in test.</a:t>
            </a:r>
          </a:p>
          <a:p>
            <a:pPr>
              <a:lnSpc>
                <a:spcPct val="135000"/>
              </a:lnSpc>
              <a:spcBef>
                <a:spcPts val="1400"/>
              </a:spcBef>
            </a:pPr>
            <a:r>
              <a:rPr sz="1400" b="1">
                <a:solidFill>
                  <a:srgbClr val="111111"/>
                </a:solidFill>
                <a:latin typeface="Montserrat"/>
              </a:rPr>
              <a:t>The model is scored on cars it has already memorised.</a:t>
            </a:r>
          </a:p>
          <a:p>
            <a:pPr>
              <a:lnSpc>
                <a:spcPct val="135000"/>
              </a:lnSpc>
              <a:spcBef>
                <a:spcPts val="1400"/>
              </a:spcBef>
            </a:pPr>
            <a:r>
              <a:rPr sz="1400" b="0">
                <a:solidFill>
                  <a:srgbClr val="111111"/>
                </a:solidFill>
                <a:latin typeface="Montserrat Light"/>
              </a:rPr>
              <a:t>We split on time instead: 80 / 15 / 5, earliest to latest.</a:t>
            </a:r>
          </a:p>
        </p:txBody>
      </p:sp>
      <p:sp>
        <p:nvSpPr>
          <p:cNvPr id="9" name="TextBox 8"/>
          <p:cNvSpPr txBox="1"/>
          <p:nvPr/>
        </p:nvSpPr>
        <p:spPr>
          <a:xfrm>
            <a:off x="6766560" y="5440680"/>
            <a:ext cx="4754880" cy="548640"/>
          </a:xfrm>
          <a:prstGeom prst="rect">
            <a:avLst/>
          </a:prstGeom>
          <a:noFill/>
        </p:spPr>
        <p:txBody>
          <a:bodyPr wrap="square" anchor="t" lIns="0" rIns="0" tIns="0" bIns="0">
            <a:noAutofit/>
          </a:bodyPr>
          <a:lstStyle/>
          <a:p>
            <a:r>
              <a:rPr sz="1050" b="0" spc="130">
                <a:solidFill>
                  <a:srgbClr val="4A5568"/>
                </a:solidFill>
                <a:latin typeface="JetBrains Mono"/>
              </a:rPr>
              <a:t>EVERY NUMBER FROM HERE ON IS THE TEMPORAL SPLIT</a:t>
            </a:r>
          </a:p>
        </p:txBody>
      </p:sp>
      <p:sp>
        <p:nvSpPr>
          <p:cNvPr id="10" name="Rectangle 9"/>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2" name="Diamond 11"/>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ARCHITECTURE</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What the head predicts</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One objectness score and four box values, per cell of a 16 x 16 grid</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grid.png"/>
          <p:cNvPicPr>
            <a:picLocks noChangeAspect="1"/>
          </p:cNvPicPr>
          <p:nvPr/>
        </p:nvPicPr>
        <p:blipFill>
          <a:blip r:embed="rId2"/>
          <a:stretch>
            <a:fillRect/>
          </a:stretch>
        </p:blipFill>
        <p:spPr>
          <a:xfrm>
            <a:off x="609904" y="1920240"/>
            <a:ext cx="3931920" cy="3931920"/>
          </a:xfrm>
          <a:prstGeom prst="rect">
            <a:avLst/>
          </a:prstGeom>
        </p:spPr>
      </p:pic>
      <p:sp>
        <p:nvSpPr>
          <p:cNvPr id="7" name="TextBox 6"/>
          <p:cNvSpPr txBox="1"/>
          <p:nvPr/>
        </p:nvSpPr>
        <p:spPr>
          <a:xfrm>
            <a:off x="609904" y="5897880"/>
            <a:ext cx="4297680" cy="274320"/>
          </a:xfrm>
          <a:prstGeom prst="rect">
            <a:avLst/>
          </a:prstGeom>
          <a:noFill/>
        </p:spPr>
        <p:txBody>
          <a:bodyPr wrap="square" anchor="t" lIns="0" rIns="0" tIns="0" bIns="0">
            <a:noAutofit/>
          </a:bodyPr>
          <a:lstStyle/>
          <a:p>
            <a:r>
              <a:rPr sz="950" b="0" i="1">
                <a:solidFill>
                  <a:srgbClr val="666666"/>
                </a:solidFill>
                <a:latin typeface="Montserrat Light"/>
              </a:rPr>
              <a:t>Network input 512 x 512. Bright cell holds the box centre; the pale cells are our multi-cell rule</a:t>
            </a:r>
          </a:p>
        </p:txBody>
      </p:sp>
      <p:sp>
        <p:nvSpPr>
          <p:cNvPr id="8" name="TextBox 7"/>
          <p:cNvSpPr txBox="1"/>
          <p:nvPr/>
        </p:nvSpPr>
        <p:spPr>
          <a:xfrm>
            <a:off x="5212080" y="1965960"/>
            <a:ext cx="4572000" cy="256032"/>
          </a:xfrm>
          <a:prstGeom prst="rect">
            <a:avLst/>
          </a:prstGeom>
          <a:noFill/>
        </p:spPr>
        <p:txBody>
          <a:bodyPr wrap="square" anchor="t" lIns="0" rIns="0" tIns="0" bIns="0">
            <a:noAutofit/>
          </a:bodyPr>
          <a:lstStyle/>
          <a:p>
            <a:r>
              <a:rPr sz="1000" b="0" spc="150">
                <a:solidFill>
                  <a:srgbClr val="4A5568"/>
                </a:solidFill>
                <a:latin typeface="JetBrains Mono"/>
              </a:rPr>
              <a:t>PER CELL</a:t>
            </a:r>
          </a:p>
        </p:txBody>
      </p:sp>
      <p:sp>
        <p:nvSpPr>
          <p:cNvPr id="9" name="TextBox 8"/>
          <p:cNvSpPr txBox="1"/>
          <p:nvPr/>
        </p:nvSpPr>
        <p:spPr>
          <a:xfrm>
            <a:off x="5212080" y="2377440"/>
            <a:ext cx="6309360" cy="548640"/>
          </a:xfrm>
          <a:prstGeom prst="rect">
            <a:avLst/>
          </a:prstGeom>
          <a:noFill/>
        </p:spPr>
        <p:txBody>
          <a:bodyPr wrap="square" anchor="t" lIns="0" rIns="0" tIns="0" bIns="0">
            <a:noAutofit/>
          </a:bodyPr>
          <a:lstStyle/>
          <a:p>
            <a:pPr>
              <a:spcAft>
                <a:spcPts val="200"/>
              </a:spcAft>
            </a:pPr>
            <a:r>
              <a:rPr sz="1250" b="1" spc="40">
                <a:solidFill>
                  <a:srgbClr val="111111"/>
                </a:solidFill>
                <a:latin typeface="JetBrains Mono"/>
              </a:rPr>
              <a:t>objectness</a:t>
            </a:r>
          </a:p>
          <a:p>
            <a:pPr>
              <a:lnSpc>
                <a:spcPct val="115000"/>
              </a:lnSpc>
            </a:pPr>
            <a:r>
              <a:rPr sz="1200" b="0">
                <a:solidFill>
                  <a:srgbClr val="666666"/>
                </a:solidFill>
                <a:latin typeface="Montserrat Light"/>
              </a:rPr>
              <a:t>is there a vehicle centre in this cell?</a:t>
            </a:r>
          </a:p>
        </p:txBody>
      </p:sp>
      <p:sp>
        <p:nvSpPr>
          <p:cNvPr id="10" name="TextBox 9"/>
          <p:cNvSpPr txBox="1"/>
          <p:nvPr/>
        </p:nvSpPr>
        <p:spPr>
          <a:xfrm>
            <a:off x="5212080" y="3090672"/>
            <a:ext cx="6309360" cy="548640"/>
          </a:xfrm>
          <a:prstGeom prst="rect">
            <a:avLst/>
          </a:prstGeom>
          <a:noFill/>
        </p:spPr>
        <p:txBody>
          <a:bodyPr wrap="square" anchor="t" lIns="0" rIns="0" tIns="0" bIns="0">
            <a:noAutofit/>
          </a:bodyPr>
          <a:lstStyle/>
          <a:p>
            <a:pPr>
              <a:spcAft>
                <a:spcPts val="200"/>
              </a:spcAft>
            </a:pPr>
            <a:r>
              <a:rPr sz="1250" b="1" spc="40">
                <a:solidFill>
                  <a:srgbClr val="111111"/>
                </a:solidFill>
                <a:latin typeface="JetBrains Mono"/>
              </a:rPr>
              <a:t>off_x, off_y</a:t>
            </a:r>
          </a:p>
          <a:p>
            <a:pPr>
              <a:lnSpc>
                <a:spcPct val="115000"/>
              </a:lnSpc>
            </a:pPr>
            <a:r>
              <a:rPr sz="1200" b="0">
                <a:solidFill>
                  <a:srgbClr val="666666"/>
                </a:solidFill>
                <a:latin typeface="Montserrat Light"/>
              </a:rPr>
              <a:t>where in the cell the centre sits, 0 to 1</a:t>
            </a:r>
          </a:p>
        </p:txBody>
      </p:sp>
      <p:sp>
        <p:nvSpPr>
          <p:cNvPr id="11" name="TextBox 10"/>
          <p:cNvSpPr txBox="1"/>
          <p:nvPr/>
        </p:nvSpPr>
        <p:spPr>
          <a:xfrm>
            <a:off x="5212080" y="3803904"/>
            <a:ext cx="6309360" cy="548640"/>
          </a:xfrm>
          <a:prstGeom prst="rect">
            <a:avLst/>
          </a:prstGeom>
          <a:noFill/>
        </p:spPr>
        <p:txBody>
          <a:bodyPr wrap="square" anchor="t" lIns="0" rIns="0" tIns="0" bIns="0">
            <a:noAutofit/>
          </a:bodyPr>
          <a:lstStyle/>
          <a:p>
            <a:pPr>
              <a:spcAft>
                <a:spcPts val="200"/>
              </a:spcAft>
            </a:pPr>
            <a:r>
              <a:rPr sz="1250" b="1" spc="40">
                <a:solidFill>
                  <a:srgbClr val="111111"/>
                </a:solidFill>
                <a:latin typeface="JetBrains Mono"/>
              </a:rPr>
              <a:t>w, h</a:t>
            </a:r>
          </a:p>
          <a:p>
            <a:pPr>
              <a:lnSpc>
                <a:spcPct val="115000"/>
              </a:lnSpc>
            </a:pPr>
            <a:r>
              <a:rPr sz="1200" b="0">
                <a:solidFill>
                  <a:srgbClr val="666666"/>
                </a:solidFill>
                <a:latin typeface="Montserrat Light"/>
              </a:rPr>
              <a:t>box size as a fraction of the image</a:t>
            </a:r>
          </a:p>
        </p:txBody>
      </p:sp>
      <p:sp>
        <p:nvSpPr>
          <p:cNvPr id="12" name="TextBox 11"/>
          <p:cNvSpPr txBox="1"/>
          <p:nvPr/>
        </p:nvSpPr>
        <p:spPr>
          <a:xfrm>
            <a:off x="5212080" y="4617720"/>
            <a:ext cx="6309360" cy="1005840"/>
          </a:xfrm>
          <a:prstGeom prst="rect">
            <a:avLst/>
          </a:prstGeom>
          <a:noFill/>
        </p:spPr>
        <p:txBody>
          <a:bodyPr wrap="square" anchor="t" lIns="0" rIns="0" tIns="0" bIns="0">
            <a:noAutofit/>
          </a:bodyPr>
          <a:lstStyle/>
          <a:p>
            <a:pPr>
              <a:lnSpc>
                <a:spcPct val="135000"/>
              </a:lnSpc>
            </a:pPr>
            <a:r>
              <a:rPr sz="1400" b="1">
                <a:solidFill>
                  <a:srgbClr val="111111"/>
                </a:solidFill>
                <a:latin typeface="Montserrat"/>
              </a:rPr>
              <a:t>All five values live in 0 to 1</a:t>
            </a:r>
            <a:r>
              <a:rPr sz="1400" b="0">
                <a:solidFill>
                  <a:srgbClr val="111111"/>
                </a:solidFill>
                <a:latin typeface="Montserrat Light"/>
              </a:rPr>
              <a:t> - a plain sigmoid produces them, no anchors needed.</a:t>
            </a:r>
          </a:p>
          <a:p>
            <a:pPr>
              <a:lnSpc>
                <a:spcPct val="130000"/>
              </a:lnSpc>
              <a:spcBef>
                <a:spcPts val="800"/>
              </a:spcBef>
            </a:pPr>
            <a:r>
              <a:rPr sz="1200" b="0">
                <a:solidFill>
                  <a:srgbClr val="666666"/>
                </a:solidFill>
                <a:latin typeface="Montserrat Light"/>
              </a:rPr>
              <a:t>A unit test asserts encode - decode returns the original boxes at IoU 1.0.</a:t>
            </a:r>
          </a:p>
        </p:txBody>
      </p:sp>
      <p:sp>
        <p:nvSpPr>
          <p:cNvPr id="13" name="TextBox 12"/>
          <p:cNvSpPr txBox="1"/>
          <p:nvPr/>
        </p:nvSpPr>
        <p:spPr>
          <a:xfrm>
            <a:off x="5212080" y="5852160"/>
            <a:ext cx="6309360" cy="365760"/>
          </a:xfrm>
          <a:prstGeom prst="rect">
            <a:avLst/>
          </a:prstGeom>
          <a:noFill/>
        </p:spPr>
        <p:txBody>
          <a:bodyPr wrap="square" anchor="t" lIns="0" rIns="0" tIns="0" bIns="0">
            <a:noAutofit/>
          </a:bodyPr>
          <a:lstStyle/>
          <a:p>
            <a:r>
              <a:rPr sz="1000" b="0" spc="120">
                <a:solidFill>
                  <a:srgbClr val="4A5568"/>
                </a:solidFill>
                <a:latin typeface="JetBrains Mono"/>
              </a:rPr>
              <a:t>STRIDE 32  ·  16 x 16 GRID  ·  1280 NUMBERS PER IMAGE</a:t>
            </a:r>
          </a:p>
        </p:txBody>
      </p:sp>
      <p:sp>
        <p:nvSpPr>
          <p:cNvPr id="14" name="Rectangle 13"/>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6" name="Diamond 15"/>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BASELINE</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The configuration the task sheet prescribes</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Frozen ResNet18, one positive cell per box, L1 box loss, 40 epochs</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SPLIT</a:t>
            </a:r>
          </a:p>
        </p:txBody>
      </p:sp>
      <p:sp>
        <p:nvSpPr>
          <p:cNvPr id="7" name="TextBox 6"/>
          <p:cNvSpPr txBox="1"/>
          <p:nvPr/>
        </p:nvSpPr>
        <p:spPr>
          <a:xfrm>
            <a:off x="3023718"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PRECISION</a:t>
            </a:r>
          </a:p>
        </p:txBody>
      </p:sp>
      <p:sp>
        <p:nvSpPr>
          <p:cNvPr id="8" name="TextBox 7"/>
          <p:cNvSpPr txBox="1"/>
          <p:nvPr/>
        </p:nvSpPr>
        <p:spPr>
          <a:xfrm>
            <a:off x="4340344"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RECALL</a:t>
            </a:r>
          </a:p>
        </p:txBody>
      </p:sp>
      <p:sp>
        <p:nvSpPr>
          <p:cNvPr id="9" name="TextBox 8"/>
          <p:cNvSpPr txBox="1"/>
          <p:nvPr/>
        </p:nvSpPr>
        <p:spPr>
          <a:xfrm>
            <a:off x="5656971"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F1</a:t>
            </a:r>
          </a:p>
        </p:txBody>
      </p:sp>
      <p:sp>
        <p:nvSpPr>
          <p:cNvPr id="10" name="TextBox 9"/>
          <p:cNvSpPr txBox="1"/>
          <p:nvPr/>
        </p:nvSpPr>
        <p:spPr>
          <a:xfrm>
            <a:off x="6973597"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AP50</a:t>
            </a:r>
          </a:p>
        </p:txBody>
      </p:sp>
      <p:sp>
        <p:nvSpPr>
          <p:cNvPr id="11" name="TextBox 10"/>
          <p:cNvSpPr txBox="1"/>
          <p:nvPr/>
        </p:nvSpPr>
        <p:spPr>
          <a:xfrm>
            <a:off x="8290223"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NOTES</a:t>
            </a:r>
          </a:p>
        </p:txBody>
      </p:sp>
      <p:sp>
        <p:nvSpPr>
          <p:cNvPr id="12" name="Rectangle 11"/>
          <p:cNvSpPr/>
          <p:nvPr/>
        </p:nvSpPr>
        <p:spPr>
          <a:xfrm>
            <a:off x="609904" y="2414015"/>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2523744"/>
            <a:ext cx="2304086" cy="38404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Validation (150 images)</a:t>
            </a:r>
          </a:p>
        </p:txBody>
      </p:sp>
      <p:sp>
        <p:nvSpPr>
          <p:cNvPr id="14" name="TextBox 13"/>
          <p:cNvSpPr txBox="1"/>
          <p:nvPr/>
        </p:nvSpPr>
        <p:spPr>
          <a:xfrm>
            <a:off x="3023718" y="2523744"/>
            <a:ext cx="1206898"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0.679</a:t>
            </a:r>
          </a:p>
        </p:txBody>
      </p:sp>
      <p:sp>
        <p:nvSpPr>
          <p:cNvPr id="15" name="TextBox 14"/>
          <p:cNvSpPr txBox="1"/>
          <p:nvPr/>
        </p:nvSpPr>
        <p:spPr>
          <a:xfrm>
            <a:off x="4340344" y="2523744"/>
            <a:ext cx="1206898"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0.559</a:t>
            </a:r>
          </a:p>
        </p:txBody>
      </p:sp>
      <p:sp>
        <p:nvSpPr>
          <p:cNvPr id="16" name="TextBox 15"/>
          <p:cNvSpPr txBox="1"/>
          <p:nvPr/>
        </p:nvSpPr>
        <p:spPr>
          <a:xfrm>
            <a:off x="5656971" y="2523744"/>
            <a:ext cx="1206898"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0.613</a:t>
            </a:r>
          </a:p>
        </p:txBody>
      </p:sp>
      <p:sp>
        <p:nvSpPr>
          <p:cNvPr id="17" name="TextBox 16"/>
          <p:cNvSpPr txBox="1"/>
          <p:nvPr/>
        </p:nvSpPr>
        <p:spPr>
          <a:xfrm>
            <a:off x="6973597" y="2523744"/>
            <a:ext cx="1206898" cy="38404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a:t>
            </a:r>
          </a:p>
        </p:txBody>
      </p:sp>
      <p:sp>
        <p:nvSpPr>
          <p:cNvPr id="18" name="TextBox 17"/>
          <p:cNvSpPr txBox="1"/>
          <p:nvPr/>
        </p:nvSpPr>
        <p:spPr>
          <a:xfrm>
            <a:off x="8290223" y="2523744"/>
            <a:ext cx="3181837" cy="38404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threshold and NMS tuned here</a:t>
            </a:r>
          </a:p>
        </p:txBody>
      </p:sp>
      <p:sp>
        <p:nvSpPr>
          <p:cNvPr id="19" name="Rectangle 18"/>
          <p:cNvSpPr/>
          <p:nvPr/>
        </p:nvSpPr>
        <p:spPr>
          <a:xfrm>
            <a:off x="609904" y="2834639"/>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2907791"/>
            <a:ext cx="2304086" cy="384048"/>
          </a:xfrm>
          <a:prstGeom prst="rect">
            <a:avLst/>
          </a:prstGeom>
          <a:noFill/>
        </p:spPr>
        <p:txBody>
          <a:bodyPr wrap="square" anchor="t" lIns="0" rIns="0" tIns="0" bIns="0">
            <a:noAutofit/>
          </a:bodyPr>
          <a:lstStyle/>
          <a:p>
            <a:pPr>
              <a:lnSpc>
                <a:spcPct val="110000"/>
              </a:lnSpc>
            </a:pPr>
            <a:r>
              <a:rPr sz="1150" b="1">
                <a:solidFill>
                  <a:srgbClr val="111111"/>
                </a:solidFill>
                <a:latin typeface="Montserrat"/>
              </a:rPr>
              <a:t>Test (50 images)</a:t>
            </a:r>
          </a:p>
        </p:txBody>
      </p:sp>
      <p:sp>
        <p:nvSpPr>
          <p:cNvPr id="21" name="TextBox 20"/>
          <p:cNvSpPr txBox="1"/>
          <p:nvPr/>
        </p:nvSpPr>
        <p:spPr>
          <a:xfrm>
            <a:off x="3023718" y="2907791"/>
            <a:ext cx="1206898" cy="384048"/>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0.455</a:t>
            </a:r>
          </a:p>
        </p:txBody>
      </p:sp>
      <p:sp>
        <p:nvSpPr>
          <p:cNvPr id="22" name="TextBox 21"/>
          <p:cNvSpPr txBox="1"/>
          <p:nvPr/>
        </p:nvSpPr>
        <p:spPr>
          <a:xfrm>
            <a:off x="4340344" y="2907791"/>
            <a:ext cx="1206898" cy="384048"/>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0.395</a:t>
            </a:r>
          </a:p>
        </p:txBody>
      </p:sp>
      <p:sp>
        <p:nvSpPr>
          <p:cNvPr id="23" name="TextBox 22"/>
          <p:cNvSpPr txBox="1"/>
          <p:nvPr/>
        </p:nvSpPr>
        <p:spPr>
          <a:xfrm>
            <a:off x="5656971" y="2907791"/>
            <a:ext cx="1206898" cy="384048"/>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0.423</a:t>
            </a:r>
          </a:p>
        </p:txBody>
      </p:sp>
      <p:sp>
        <p:nvSpPr>
          <p:cNvPr id="24" name="TextBox 23"/>
          <p:cNvSpPr txBox="1"/>
          <p:nvPr/>
        </p:nvSpPr>
        <p:spPr>
          <a:xfrm>
            <a:off x="6973597" y="2907791"/>
            <a:ext cx="1206898" cy="384048"/>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0.213</a:t>
            </a:r>
          </a:p>
        </p:txBody>
      </p:sp>
      <p:sp>
        <p:nvSpPr>
          <p:cNvPr id="25" name="TextBox 24"/>
          <p:cNvSpPr txBox="1"/>
          <p:nvPr/>
        </p:nvSpPr>
        <p:spPr>
          <a:xfrm>
            <a:off x="8290223" y="2907791"/>
            <a:ext cx="3181837" cy="384048"/>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38 boxes only</a:t>
            </a:r>
          </a:p>
        </p:txBody>
      </p:sp>
      <p:sp>
        <p:nvSpPr>
          <p:cNvPr id="26" name="Rectangle 25"/>
          <p:cNvSpPr/>
          <p:nvPr/>
        </p:nvSpPr>
        <p:spPr>
          <a:xfrm>
            <a:off x="609904" y="3218687"/>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ig_curves.png"/>
          <p:cNvPicPr>
            <a:picLocks noChangeAspect="1"/>
          </p:cNvPicPr>
          <p:nvPr/>
        </p:nvPicPr>
        <p:blipFill>
          <a:blip r:embed="rId2"/>
          <a:stretch>
            <a:fillRect/>
          </a:stretch>
        </p:blipFill>
        <p:spPr>
          <a:xfrm>
            <a:off x="6774098" y="3520440"/>
            <a:ext cx="4282604" cy="2331720"/>
          </a:xfrm>
          <a:prstGeom prst="rect">
            <a:avLst/>
          </a:prstGeom>
        </p:spPr>
      </p:pic>
      <p:sp>
        <p:nvSpPr>
          <p:cNvPr id="28" name="TextBox 27"/>
          <p:cNvSpPr txBox="1"/>
          <p:nvPr/>
        </p:nvSpPr>
        <p:spPr>
          <a:xfrm>
            <a:off x="609904" y="3703320"/>
            <a:ext cx="5486400" cy="1463040"/>
          </a:xfrm>
          <a:prstGeom prst="rect">
            <a:avLst/>
          </a:prstGeom>
          <a:noFill/>
        </p:spPr>
        <p:txBody>
          <a:bodyPr wrap="square" anchor="t" lIns="0" rIns="0" tIns="0" bIns="0">
            <a:noAutofit/>
          </a:bodyPr>
          <a:lstStyle/>
          <a:p>
            <a:pPr>
              <a:lnSpc>
                <a:spcPct val="130000"/>
              </a:lnSpc>
            </a:pPr>
            <a:r>
              <a:rPr sz="1400" b="1">
                <a:solidFill>
                  <a:srgbClr val="111111"/>
                </a:solidFill>
                <a:latin typeface="Montserrat"/>
              </a:rPr>
              <a:t>The test split is too small to carry the argument alone.</a:t>
            </a:r>
          </a:p>
          <a:p>
            <a:pPr>
              <a:lnSpc>
                <a:spcPct val="135000"/>
              </a:lnSpc>
              <a:spcBef>
                <a:spcPts val="800"/>
              </a:spcBef>
            </a:pPr>
            <a:r>
              <a:rPr sz="1250" b="0">
                <a:solidFill>
                  <a:srgbClr val="666666"/>
                </a:solidFill>
                <a:latin typeface="Montserrat Light"/>
              </a:rPr>
              <a:t>50 images, 38 boxes - one bad frame moves F1 by several points. The 80/15/5 ratio is the task sheet's, so validation is our primary number.</a:t>
            </a:r>
          </a:p>
        </p:txBody>
      </p:sp>
      <p:sp>
        <p:nvSpPr>
          <p:cNvPr id="29" name="TextBox 28"/>
          <p:cNvSpPr txBox="1"/>
          <p:nvPr/>
        </p:nvSpPr>
        <p:spPr>
          <a:xfrm>
            <a:off x="609904" y="5440680"/>
            <a:ext cx="5486400" cy="365760"/>
          </a:xfrm>
          <a:prstGeom prst="rect">
            <a:avLst/>
          </a:prstGeom>
          <a:noFill/>
        </p:spPr>
        <p:txBody>
          <a:bodyPr wrap="square" anchor="t" lIns="0" rIns="0" tIns="0" bIns="0">
            <a:noAutofit/>
          </a:bodyPr>
          <a:lstStyle/>
          <a:p>
            <a:r>
              <a:rPr sz="1000" b="0" spc="120">
                <a:solidFill>
                  <a:srgbClr val="4A5568"/>
                </a:solidFill>
                <a:latin typeface="JetBrains Mono"/>
              </a:rPr>
              <a:t>TRAINING STOPS HELPING AT EPOCH 17 - MORE DATA, NOT MORE EPOCHS</a:t>
            </a:r>
          </a:p>
        </p:txBody>
      </p:sp>
      <p:sp>
        <p:nvSpPr>
          <p:cNvPr id="30" name="Rectangle 29"/>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32" name="Diamond 31"/>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WHAT WE TRIED</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Twelve configurations, one change at a time</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Test F1 at IoU 0.5, temporal split, threshold and NMS tuned per run</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ablation.png"/>
          <p:cNvPicPr>
            <a:picLocks noChangeAspect="1"/>
          </p:cNvPicPr>
          <p:nvPr/>
        </p:nvPicPr>
        <p:blipFill>
          <a:blip r:embed="rId2"/>
          <a:stretch>
            <a:fillRect/>
          </a:stretch>
        </p:blipFill>
        <p:spPr>
          <a:xfrm>
            <a:off x="609904" y="1922593"/>
            <a:ext cx="7498079" cy="3972933"/>
          </a:xfrm>
          <a:prstGeom prst="rect">
            <a:avLst/>
          </a:prstGeom>
        </p:spPr>
      </p:pic>
      <p:sp>
        <p:nvSpPr>
          <p:cNvPr id="7" name="TextBox 6"/>
          <p:cNvSpPr txBox="1"/>
          <p:nvPr/>
        </p:nvSpPr>
        <p:spPr>
          <a:xfrm>
            <a:off x="8321040" y="2103120"/>
            <a:ext cx="4572000" cy="256032"/>
          </a:xfrm>
          <a:prstGeom prst="rect">
            <a:avLst/>
          </a:prstGeom>
          <a:noFill/>
        </p:spPr>
        <p:txBody>
          <a:bodyPr wrap="square" anchor="t" lIns="0" rIns="0" tIns="0" bIns="0">
            <a:noAutofit/>
          </a:bodyPr>
          <a:lstStyle/>
          <a:p>
            <a:r>
              <a:rPr sz="1000" b="0" spc="150">
                <a:solidFill>
                  <a:srgbClr val="4A5568"/>
                </a:solidFill>
                <a:latin typeface="JetBrains Mono"/>
              </a:rPr>
              <a:t>THE GAP</a:t>
            </a:r>
          </a:p>
        </p:txBody>
      </p:sp>
      <p:sp>
        <p:nvSpPr>
          <p:cNvPr id="8" name="TextBox 7"/>
          <p:cNvSpPr txBox="1"/>
          <p:nvPr/>
        </p:nvSpPr>
        <p:spPr>
          <a:xfrm>
            <a:off x="8321040" y="2468880"/>
            <a:ext cx="3200400" cy="2377440"/>
          </a:xfrm>
          <a:prstGeom prst="rect">
            <a:avLst/>
          </a:prstGeom>
          <a:noFill/>
        </p:spPr>
        <p:txBody>
          <a:bodyPr wrap="square" anchor="t" lIns="0" rIns="0" tIns="0" bIns="0">
            <a:noAutofit/>
          </a:bodyPr>
          <a:lstStyle/>
          <a:p>
            <a:pPr>
              <a:spcAft>
                <a:spcPts val="0"/>
              </a:spcAft>
            </a:pPr>
            <a:r>
              <a:rPr sz="3000" b="0">
                <a:solidFill>
                  <a:srgbClr val="111111"/>
                </a:solidFill>
                <a:latin typeface="Montserrat Black"/>
              </a:rPr>
              <a:t>0.423</a:t>
            </a:r>
          </a:p>
          <a:p>
            <a:r>
              <a:rPr sz="900" b="0" spc="140">
                <a:solidFill>
                  <a:srgbClr val="4A5568"/>
                </a:solidFill>
                <a:latin typeface="JetBrains Mono"/>
              </a:rPr>
              <a:t>TASK-SHEET BASELINE</a:t>
            </a:r>
          </a:p>
          <a:p>
            <a:pPr>
              <a:spcBef>
                <a:spcPts val="1200"/>
              </a:spcBef>
              <a:spcAft>
                <a:spcPts val="0"/>
              </a:spcAft>
            </a:pPr>
            <a:r>
              <a:rPr sz="3000" b="0">
                <a:solidFill>
                  <a:srgbClr val="111111"/>
                </a:solidFill>
                <a:latin typeface="Montserrat Black"/>
              </a:rPr>
              <a:t>0.904</a:t>
            </a:r>
          </a:p>
          <a:p>
            <a:r>
              <a:rPr sz="900" b="0" spc="140">
                <a:solidFill>
                  <a:srgbClr val="4A5568"/>
                </a:solidFill>
                <a:latin typeface="JetBrains Mono"/>
              </a:rPr>
              <a:t>OUR BEST RUN</a:t>
            </a:r>
          </a:p>
          <a:p>
            <a:pPr>
              <a:lnSpc>
                <a:spcPct val="130000"/>
              </a:lnSpc>
              <a:spcBef>
                <a:spcPts val="1600"/>
              </a:spcBef>
            </a:pPr>
            <a:r>
              <a:rPr sz="1200" b="0">
                <a:solidFill>
                  <a:srgbClr val="666666"/>
                </a:solidFill>
                <a:latin typeface="Montserrat Light"/>
              </a:rPr>
              <a:t>AP50 goes 0.213 to 0.871 - four times. Two changes account for almost all of it.</a:t>
            </a:r>
          </a:p>
        </p:txBody>
      </p:sp>
      <p:sp>
        <p:nvSpPr>
          <p:cNvPr id="9" name="Rectangle 8"/>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1" name="Diamond 10"/>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WHAT WORKED</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Two changes, almost all of the gain</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Each was measured on its own before they were combined</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1965960"/>
            <a:ext cx="4572000" cy="256032"/>
          </a:xfrm>
          <a:prstGeom prst="rect">
            <a:avLst/>
          </a:prstGeom>
          <a:noFill/>
        </p:spPr>
        <p:txBody>
          <a:bodyPr wrap="square" anchor="t" lIns="0" rIns="0" tIns="0" bIns="0">
            <a:noAutofit/>
          </a:bodyPr>
          <a:lstStyle/>
          <a:p>
            <a:r>
              <a:rPr sz="1000" b="0" spc="150">
                <a:solidFill>
                  <a:srgbClr val="4A5568"/>
                </a:solidFill>
                <a:latin typeface="JetBrains Mono"/>
              </a:rPr>
              <a:t>LEVER 1 · UNFREEZE THE BACKBONE     + 0.42 F1</a:t>
            </a:r>
          </a:p>
        </p:txBody>
      </p:sp>
      <p:sp>
        <p:nvSpPr>
          <p:cNvPr id="7" name="TextBox 6"/>
          <p:cNvSpPr txBox="1"/>
          <p:nvPr/>
        </p:nvSpPr>
        <p:spPr>
          <a:xfrm>
            <a:off x="609904" y="2331720"/>
            <a:ext cx="5029200" cy="1737360"/>
          </a:xfrm>
          <a:prstGeom prst="rect">
            <a:avLst/>
          </a:prstGeom>
          <a:noFill/>
        </p:spPr>
        <p:txBody>
          <a:bodyPr wrap="square" anchor="t" lIns="0" rIns="0" tIns="0" bIns="0">
            <a:noAutofit/>
          </a:bodyPr>
          <a:lstStyle/>
          <a:p>
            <a:pPr>
              <a:lnSpc>
                <a:spcPct val="130000"/>
              </a:lnSpc>
            </a:pPr>
            <a:r>
              <a:rPr sz="1350" b="1">
                <a:solidFill>
                  <a:srgbClr val="111111"/>
                </a:solidFill>
                <a:latin typeface="Montserrat"/>
              </a:rPr>
              <a:t>The frozen features were the bottleneck, not the head.</a:t>
            </a:r>
          </a:p>
          <a:p>
            <a:pPr>
              <a:lnSpc>
                <a:spcPct val="130000"/>
              </a:lnSpc>
              <a:spcBef>
                <a:spcPts val="800"/>
              </a:spcBef>
            </a:pPr>
            <a:r>
              <a:rPr sz="1200" b="0">
                <a:solidFill>
                  <a:srgbClr val="666666"/>
                </a:solidFill>
                <a:latin typeface="Montserrat Light"/>
              </a:rPr>
              <a:t>ImageNet is object-centric photography; our vehicles are small, blurred and shot from a dashcam.</a:t>
            </a:r>
          </a:p>
        </p:txBody>
      </p:sp>
      <p:sp>
        <p:nvSpPr>
          <p:cNvPr id="8" name="TextBox 7"/>
          <p:cNvSpPr txBox="1"/>
          <p:nvPr/>
        </p:nvSpPr>
        <p:spPr>
          <a:xfrm>
            <a:off x="6400800" y="1965960"/>
            <a:ext cx="4572000" cy="256032"/>
          </a:xfrm>
          <a:prstGeom prst="rect">
            <a:avLst/>
          </a:prstGeom>
          <a:noFill/>
        </p:spPr>
        <p:txBody>
          <a:bodyPr wrap="square" anchor="t" lIns="0" rIns="0" tIns="0" bIns="0">
            <a:noAutofit/>
          </a:bodyPr>
          <a:lstStyle/>
          <a:p>
            <a:r>
              <a:rPr sz="1000" b="0" spc="150">
                <a:solidFill>
                  <a:srgbClr val="4A5568"/>
                </a:solidFill>
                <a:latin typeface="JetBrains Mono"/>
              </a:rPr>
              <a:t>LEVER 2 · MULTI-CELL ASSIGNMENT     + 0.23 F1</a:t>
            </a:r>
          </a:p>
        </p:txBody>
      </p:sp>
      <p:sp>
        <p:nvSpPr>
          <p:cNvPr id="9" name="TextBox 8"/>
          <p:cNvSpPr txBox="1"/>
          <p:nvPr/>
        </p:nvSpPr>
        <p:spPr>
          <a:xfrm>
            <a:off x="6400800" y="2331720"/>
            <a:ext cx="5120640" cy="1737360"/>
          </a:xfrm>
          <a:prstGeom prst="rect">
            <a:avLst/>
          </a:prstGeom>
          <a:noFill/>
        </p:spPr>
        <p:txBody>
          <a:bodyPr wrap="square" anchor="t" lIns="0" rIns="0" tIns="0" bIns="0">
            <a:noAutofit/>
          </a:bodyPr>
          <a:lstStyle/>
          <a:p>
            <a:pPr>
              <a:lnSpc>
                <a:spcPct val="130000"/>
              </a:lnSpc>
            </a:pPr>
            <a:r>
              <a:rPr sz="1350" b="1">
                <a:solidFill>
                  <a:srgbClr val="111111"/>
                </a:solidFill>
                <a:latin typeface="Montserrat"/>
              </a:rPr>
              <a:t>One positive cell per box is 453 signals in the whole training set.</a:t>
            </a:r>
          </a:p>
          <a:p>
            <a:pPr>
              <a:lnSpc>
                <a:spcPct val="130000"/>
              </a:lnSpc>
              <a:spcBef>
                <a:spcPts val="800"/>
              </a:spcBef>
            </a:pPr>
            <a:r>
              <a:rPr sz="1200" b="0">
                <a:solidFill>
                  <a:srgbClr val="666666"/>
                </a:solidFill>
                <a:latin typeface="Montserrat Light"/>
              </a:rPr>
              <a:t>Neighbouring cells fire anyway but were never taught which box to emit, so they emit fragments.</a:t>
            </a:r>
          </a:p>
        </p:txBody>
      </p:sp>
      <p:pic>
        <p:nvPicPr>
          <p:cNvPr id="10" name="Picture 9" descr="fig_assign.png"/>
          <p:cNvPicPr>
            <a:picLocks noChangeAspect="1"/>
          </p:cNvPicPr>
          <p:nvPr/>
        </p:nvPicPr>
        <p:blipFill>
          <a:blip r:embed="rId2"/>
          <a:stretch>
            <a:fillRect/>
          </a:stretch>
        </p:blipFill>
        <p:spPr>
          <a:xfrm>
            <a:off x="609904" y="3931920"/>
            <a:ext cx="5627528" cy="2148840"/>
          </a:xfrm>
          <a:prstGeom prst="rect">
            <a:avLst/>
          </a:prstGeom>
        </p:spPr>
      </p:pic>
      <p:sp>
        <p:nvSpPr>
          <p:cNvPr id="11" name="TextBox 10"/>
          <p:cNvSpPr txBox="1"/>
          <p:nvPr/>
        </p:nvSpPr>
        <p:spPr>
          <a:xfrm>
            <a:off x="7772400" y="4206240"/>
            <a:ext cx="3749039" cy="1645920"/>
          </a:xfrm>
          <a:prstGeom prst="rect">
            <a:avLst/>
          </a:prstGeom>
          <a:noFill/>
        </p:spPr>
        <p:txBody>
          <a:bodyPr wrap="square" anchor="t" lIns="0" rIns="0" tIns="0" bIns="0">
            <a:noAutofit/>
          </a:bodyPr>
          <a:lstStyle/>
          <a:p>
            <a:pPr>
              <a:lnSpc>
                <a:spcPct val="130000"/>
              </a:lnSpc>
            </a:pPr>
            <a:r>
              <a:rPr sz="1300" b="1">
                <a:solidFill>
                  <a:srgbClr val="111111"/>
                </a:solidFill>
                <a:latin typeface="Montserrat"/>
              </a:rPr>
              <a:t>Train the centre cell plus its two nearest neighbours on the same box.</a:t>
            </a:r>
          </a:p>
          <a:p>
            <a:pPr>
              <a:lnSpc>
                <a:spcPct val="130000"/>
              </a:lnSpc>
              <a:spcBef>
                <a:spcPts val="800"/>
              </a:spcBef>
            </a:pPr>
            <a:r>
              <a:rPr sz="1200" b="0">
                <a:solidFill>
                  <a:srgbClr val="666666"/>
                </a:solidFill>
                <a:latin typeface="Montserrat Light"/>
              </a:rPr>
              <a:t>They become agreeing votes that NMS merges. False positives on test: 18 to 10.</a:t>
            </a:r>
          </a:p>
        </p:txBody>
      </p:sp>
      <p:sp>
        <p:nvSpPr>
          <p:cNvPr id="12" name="Rectangle 11"/>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4" name="Diamond 13"/>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WHAT DID NOT WORK</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The negative results, kept on purpose</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Each was a reasonable idea before it was measured</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ATTEMPT</a:t>
            </a:r>
          </a:p>
        </p:txBody>
      </p:sp>
      <p:sp>
        <p:nvSpPr>
          <p:cNvPr id="7" name="TextBox 6"/>
          <p:cNvSpPr txBox="1"/>
          <p:nvPr/>
        </p:nvSpPr>
        <p:spPr>
          <a:xfrm>
            <a:off x="3901469"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RESULT</a:t>
            </a:r>
          </a:p>
        </p:txBody>
      </p:sp>
      <p:sp>
        <p:nvSpPr>
          <p:cNvPr id="8" name="TextBox 7"/>
          <p:cNvSpPr txBox="1"/>
          <p:nvPr/>
        </p:nvSpPr>
        <p:spPr>
          <a:xfrm>
            <a:off x="5497380"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WHY IT FAILED</a:t>
            </a:r>
          </a:p>
        </p:txBody>
      </p:sp>
      <p:sp>
        <p:nvSpPr>
          <p:cNvPr id="9" name="Rectangle 8"/>
          <p:cNvSpPr/>
          <p:nvPr/>
        </p:nvSpPr>
        <p:spPr>
          <a:xfrm>
            <a:off x="609904" y="2414015"/>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2523744"/>
            <a:ext cx="3181837" cy="47548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CIoU box loss</a:t>
            </a:r>
          </a:p>
        </p:txBody>
      </p:sp>
      <p:sp>
        <p:nvSpPr>
          <p:cNvPr id="11" name="TextBox 10"/>
          <p:cNvSpPr txBox="1"/>
          <p:nvPr/>
        </p:nvSpPr>
        <p:spPr>
          <a:xfrm>
            <a:off x="3901469" y="2523744"/>
            <a:ext cx="1486182" cy="47548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0.476 / 0.597</a:t>
            </a:r>
          </a:p>
        </p:txBody>
      </p:sp>
      <p:sp>
        <p:nvSpPr>
          <p:cNvPr id="12" name="TextBox 11"/>
          <p:cNvSpPr txBox="1"/>
          <p:nvPr/>
        </p:nvSpPr>
        <p:spPr>
          <a:xfrm>
            <a:off x="5497380" y="2523744"/>
            <a:ext cx="5974680" cy="47548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unstable gradients on tiny targets; L1 is the easier optimisation</a:t>
            </a:r>
          </a:p>
        </p:txBody>
      </p:sp>
      <p:sp>
        <p:nvSpPr>
          <p:cNvPr id="13" name="Rectangle 12"/>
          <p:cNvSpPr/>
          <p:nvPr/>
        </p:nvSpPr>
        <p:spPr>
          <a:xfrm>
            <a:off x="609904" y="2926079"/>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2999232"/>
            <a:ext cx="3181837" cy="47548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Focal loss</a:t>
            </a:r>
          </a:p>
        </p:txBody>
      </p:sp>
      <p:sp>
        <p:nvSpPr>
          <p:cNvPr id="15" name="TextBox 14"/>
          <p:cNvSpPr txBox="1"/>
          <p:nvPr/>
        </p:nvSpPr>
        <p:spPr>
          <a:xfrm>
            <a:off x="3901469" y="2999232"/>
            <a:ext cx="1486182" cy="47548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0.421</a:t>
            </a:r>
          </a:p>
        </p:txBody>
      </p:sp>
      <p:sp>
        <p:nvSpPr>
          <p:cNvPr id="16" name="TextBox 15"/>
          <p:cNvSpPr txBox="1"/>
          <p:nvPr/>
        </p:nvSpPr>
        <p:spPr>
          <a:xfrm>
            <a:off x="5497380" y="2999232"/>
            <a:ext cx="5974680" cy="47548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built for dense anchor detectors; it starved the head</a:t>
            </a:r>
          </a:p>
        </p:txBody>
      </p:sp>
      <p:sp>
        <p:nvSpPr>
          <p:cNvPr id="17" name="Rectangle 16"/>
          <p:cNvSpPr/>
          <p:nvPr/>
        </p:nvSpPr>
        <p:spPr>
          <a:xfrm>
            <a:off x="609904" y="34015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3474720"/>
            <a:ext cx="3181837" cy="47548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Plain BCE</a:t>
            </a:r>
          </a:p>
        </p:txBody>
      </p:sp>
      <p:sp>
        <p:nvSpPr>
          <p:cNvPr id="19" name="TextBox 18"/>
          <p:cNvSpPr txBox="1"/>
          <p:nvPr/>
        </p:nvSpPr>
        <p:spPr>
          <a:xfrm>
            <a:off x="3901469" y="3474720"/>
            <a:ext cx="1486182" cy="47548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0.508</a:t>
            </a:r>
          </a:p>
        </p:txBody>
      </p:sp>
      <p:sp>
        <p:nvSpPr>
          <p:cNvPr id="20" name="TextBox 19"/>
          <p:cNvSpPr txBox="1"/>
          <p:nvPr/>
        </p:nvSpPr>
        <p:spPr>
          <a:xfrm>
            <a:off x="5497380" y="3474720"/>
            <a:ext cx="5974680" cy="47548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collapsed to 'no vehicle' - 99% cell accuracy, useless detector</a:t>
            </a:r>
          </a:p>
        </p:txBody>
      </p:sp>
      <p:sp>
        <p:nvSpPr>
          <p:cNvPr id="21" name="Rectangle 20"/>
          <p:cNvSpPr/>
          <p:nvPr/>
        </p:nvSpPr>
        <p:spPr>
          <a:xfrm>
            <a:off x="609904" y="3877056"/>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3950208"/>
            <a:ext cx="3181837" cy="47548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Flip + colour jitter</a:t>
            </a:r>
          </a:p>
        </p:txBody>
      </p:sp>
      <p:sp>
        <p:nvSpPr>
          <p:cNvPr id="23" name="TextBox 22"/>
          <p:cNvSpPr txBox="1"/>
          <p:nvPr/>
        </p:nvSpPr>
        <p:spPr>
          <a:xfrm>
            <a:off x="3901469" y="3950208"/>
            <a:ext cx="1486182" cy="47548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0.485 vs 0.423</a:t>
            </a:r>
          </a:p>
        </p:txBody>
      </p:sp>
      <p:sp>
        <p:nvSpPr>
          <p:cNvPr id="24" name="TextBox 23"/>
          <p:cNvSpPr txBox="1"/>
          <p:nvPr/>
        </p:nvSpPr>
        <p:spPr>
          <a:xfrm>
            <a:off x="5497380" y="3950208"/>
            <a:ext cx="5974680" cy="47548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the data lacks scale and viewpoint, not colour</a:t>
            </a:r>
          </a:p>
        </p:txBody>
      </p:sp>
      <p:sp>
        <p:nvSpPr>
          <p:cNvPr id="25" name="Rectangle 24"/>
          <p:cNvSpPr/>
          <p:nvPr/>
        </p:nvSpPr>
        <p:spPr>
          <a:xfrm>
            <a:off x="609904" y="4352544"/>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904" y="4425696"/>
            <a:ext cx="3181837" cy="47548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Larger input, 640 / 768 px</a:t>
            </a:r>
          </a:p>
        </p:txBody>
      </p:sp>
      <p:sp>
        <p:nvSpPr>
          <p:cNvPr id="27" name="TextBox 26"/>
          <p:cNvSpPr txBox="1"/>
          <p:nvPr/>
        </p:nvSpPr>
        <p:spPr>
          <a:xfrm>
            <a:off x="3901469" y="4425696"/>
            <a:ext cx="1486182" cy="47548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0.917 / 0.889</a:t>
            </a:r>
          </a:p>
        </p:txBody>
      </p:sp>
      <p:sp>
        <p:nvSpPr>
          <p:cNvPr id="28" name="TextBox 27"/>
          <p:cNvSpPr txBox="1"/>
          <p:nvPr/>
        </p:nvSpPr>
        <p:spPr>
          <a:xfrm>
            <a:off x="5497380" y="4425696"/>
            <a:ext cx="5974680" cy="47548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finds the same 33 vehicles - one false positive fewer</a:t>
            </a:r>
          </a:p>
        </p:txBody>
      </p:sp>
      <p:sp>
        <p:nvSpPr>
          <p:cNvPr id="29" name="Rectangle 28"/>
          <p:cNvSpPr/>
          <p:nvPr/>
        </p:nvSpPr>
        <p:spPr>
          <a:xfrm>
            <a:off x="609904" y="4828031"/>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904" y="4901183"/>
            <a:ext cx="3181837" cy="47548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Finer grid, stride 16</a:t>
            </a:r>
          </a:p>
        </p:txBody>
      </p:sp>
      <p:sp>
        <p:nvSpPr>
          <p:cNvPr id="31" name="TextBox 30"/>
          <p:cNvSpPr txBox="1"/>
          <p:nvPr/>
        </p:nvSpPr>
        <p:spPr>
          <a:xfrm>
            <a:off x="3901469" y="4901183"/>
            <a:ext cx="1486182" cy="47548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0.822</a:t>
            </a:r>
          </a:p>
        </p:txBody>
      </p:sp>
      <p:sp>
        <p:nvSpPr>
          <p:cNvPr id="32" name="TextBox 31"/>
          <p:cNvSpPr txBox="1"/>
          <p:nvPr/>
        </p:nvSpPr>
        <p:spPr>
          <a:xfrm>
            <a:off x="5497380" y="4901183"/>
            <a:ext cx="5974680" cy="47548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resolution bought, semantic depth paid - that is what an FPN solves</a:t>
            </a:r>
          </a:p>
        </p:txBody>
      </p:sp>
      <p:sp>
        <p:nvSpPr>
          <p:cNvPr id="33" name="Rectangle 32"/>
          <p:cNvSpPr/>
          <p:nvPr/>
        </p:nvSpPr>
        <p:spPr>
          <a:xfrm>
            <a:off x="609904" y="5303519"/>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5623560"/>
            <a:ext cx="10607040" cy="365760"/>
          </a:xfrm>
          <a:prstGeom prst="rect">
            <a:avLst/>
          </a:prstGeom>
          <a:noFill/>
        </p:spPr>
        <p:txBody>
          <a:bodyPr wrap="square" anchor="t" lIns="0" rIns="0" tIns="0" bIns="0">
            <a:noAutofit/>
          </a:bodyPr>
          <a:lstStyle/>
          <a:p>
            <a:r>
              <a:rPr sz="950" b="0" spc="120">
                <a:solidFill>
                  <a:srgbClr val="4A5568"/>
                </a:solidFill>
                <a:latin typeface="JetBrains Mono"/>
              </a:rPr>
              <a:t>WE GOT THIS TABLE WRONG TWICE OURSELVES: A CHECKPOINT READ MID-TRAINING, BOX AREA IN INPUT PIXELS</a:t>
            </a:r>
          </a:p>
        </p:txBody>
      </p:sp>
      <p:sp>
        <p:nvSpPr>
          <p:cNvPr id="35" name="Rectangle 34"/>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37" name="Diamond 36"/>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ERROR ANALYSIS</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Every miss is a small, distant vehicle</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Precision holds above 0.95 out to recall 0.87, then the curve falls off a cliff</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pr.png"/>
          <p:cNvPicPr>
            <a:picLocks noChangeAspect="1"/>
          </p:cNvPicPr>
          <p:nvPr/>
        </p:nvPicPr>
        <p:blipFill>
          <a:blip r:embed="rId2"/>
          <a:stretch>
            <a:fillRect/>
          </a:stretch>
        </p:blipFill>
        <p:spPr>
          <a:xfrm>
            <a:off x="609904" y="1920240"/>
            <a:ext cx="4465642" cy="3931920"/>
          </a:xfrm>
          <a:prstGeom prst="rect">
            <a:avLst/>
          </a:prstGeom>
        </p:spPr>
      </p:pic>
      <p:pic>
        <p:nvPicPr>
          <p:cNvPr id="7" name="Picture 6" descr="fig_recall_size.png"/>
          <p:cNvPicPr>
            <a:picLocks noChangeAspect="1"/>
          </p:cNvPicPr>
          <p:nvPr/>
        </p:nvPicPr>
        <p:blipFill>
          <a:blip r:embed="rId3"/>
          <a:stretch>
            <a:fillRect/>
          </a:stretch>
        </p:blipFill>
        <p:spPr>
          <a:xfrm>
            <a:off x="5933354" y="2103120"/>
            <a:ext cx="5415452" cy="3108960"/>
          </a:xfrm>
          <a:prstGeom prst="rect">
            <a:avLst/>
          </a:prstGeom>
        </p:spPr>
      </p:pic>
      <p:sp>
        <p:nvSpPr>
          <p:cNvPr id="8" name="TextBox 7"/>
          <p:cNvSpPr txBox="1"/>
          <p:nvPr/>
        </p:nvSpPr>
        <p:spPr>
          <a:xfrm>
            <a:off x="5760720" y="5303520"/>
            <a:ext cx="5760720" cy="731520"/>
          </a:xfrm>
          <a:prstGeom prst="rect">
            <a:avLst/>
          </a:prstGeom>
          <a:noFill/>
        </p:spPr>
        <p:txBody>
          <a:bodyPr wrap="square" anchor="t" lIns="0" rIns="0" tIns="0" bIns="0">
            <a:noAutofit/>
          </a:bodyPr>
          <a:lstStyle/>
          <a:p>
            <a:pPr>
              <a:lnSpc>
                <a:spcPct val="130000"/>
              </a:lnSpc>
            </a:pPr>
            <a:r>
              <a:rPr sz="1400" b="1">
                <a:solidFill>
                  <a:srgbClr val="111111"/>
                </a:solidFill>
                <a:latin typeface="Montserrat"/>
              </a:rPr>
              <a:t>Above 1% of image area, recall is 22 / 22.</a:t>
            </a:r>
          </a:p>
          <a:p>
            <a:pPr>
              <a:lnSpc>
                <a:spcPct val="130000"/>
              </a:lnSpc>
              <a:spcBef>
                <a:spcPts val="500"/>
              </a:spcBef>
            </a:pPr>
            <a:r>
              <a:rPr sz="1250" b="0">
                <a:solidFill>
                  <a:srgbClr val="666666"/>
                </a:solidFill>
                <a:latin typeface="Montserrat Light"/>
              </a:rPr>
              <a:t>The fix is a feature pyramid or more data - not more pixels.</a:t>
            </a:r>
          </a:p>
        </p:txBody>
      </p:sp>
      <p:sp>
        <p:nvSpPr>
          <p:cNvPr id="9" name="Rectangle 8"/>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1" name="Diamond 10"/>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1 · RESULT</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Test precision 0.943, recall 0.868</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MobileNetV3, multi-cell assignment, backbone fine-tuned - 512 px as specified</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2011680"/>
            <a:ext cx="2194560" cy="822960"/>
          </a:xfrm>
          <a:prstGeom prst="rect">
            <a:avLst/>
          </a:prstGeom>
          <a:noFill/>
        </p:spPr>
        <p:txBody>
          <a:bodyPr wrap="square" anchor="t" lIns="0" rIns="0" tIns="0" bIns="0">
            <a:noAutofit/>
          </a:bodyPr>
          <a:lstStyle/>
          <a:p>
            <a:pPr>
              <a:spcAft>
                <a:spcPts val="200"/>
              </a:spcAft>
            </a:pPr>
            <a:r>
              <a:rPr sz="3400" b="0">
                <a:solidFill>
                  <a:srgbClr val="111111"/>
                </a:solidFill>
                <a:latin typeface="Montserrat Black"/>
              </a:rPr>
              <a:t>0.943</a:t>
            </a:r>
          </a:p>
          <a:p>
            <a:r>
              <a:rPr sz="950" b="0" spc="140">
                <a:solidFill>
                  <a:srgbClr val="4A5568"/>
                </a:solidFill>
                <a:latin typeface="JetBrains Mono"/>
              </a:rPr>
              <a:t>PRECISION</a:t>
            </a:r>
          </a:p>
        </p:txBody>
      </p:sp>
      <p:sp>
        <p:nvSpPr>
          <p:cNvPr id="7" name="TextBox 6"/>
          <p:cNvSpPr txBox="1"/>
          <p:nvPr/>
        </p:nvSpPr>
        <p:spPr>
          <a:xfrm>
            <a:off x="2822752" y="2011680"/>
            <a:ext cx="2194560" cy="822960"/>
          </a:xfrm>
          <a:prstGeom prst="rect">
            <a:avLst/>
          </a:prstGeom>
          <a:noFill/>
        </p:spPr>
        <p:txBody>
          <a:bodyPr wrap="square" anchor="t" lIns="0" rIns="0" tIns="0" bIns="0">
            <a:noAutofit/>
          </a:bodyPr>
          <a:lstStyle/>
          <a:p>
            <a:pPr>
              <a:spcAft>
                <a:spcPts val="200"/>
              </a:spcAft>
            </a:pPr>
            <a:r>
              <a:rPr sz="3400" b="0">
                <a:solidFill>
                  <a:srgbClr val="111111"/>
                </a:solidFill>
                <a:latin typeface="Montserrat Black"/>
              </a:rPr>
              <a:t>0.868</a:t>
            </a:r>
          </a:p>
          <a:p>
            <a:r>
              <a:rPr sz="950" b="0" spc="140">
                <a:solidFill>
                  <a:srgbClr val="4A5568"/>
                </a:solidFill>
                <a:latin typeface="JetBrains Mono"/>
              </a:rPr>
              <a:t>RECALL</a:t>
            </a:r>
          </a:p>
        </p:txBody>
      </p:sp>
      <p:sp>
        <p:nvSpPr>
          <p:cNvPr id="8" name="TextBox 7"/>
          <p:cNvSpPr txBox="1"/>
          <p:nvPr/>
        </p:nvSpPr>
        <p:spPr>
          <a:xfrm>
            <a:off x="5035600" y="2011680"/>
            <a:ext cx="2194560" cy="822960"/>
          </a:xfrm>
          <a:prstGeom prst="rect">
            <a:avLst/>
          </a:prstGeom>
          <a:noFill/>
        </p:spPr>
        <p:txBody>
          <a:bodyPr wrap="square" anchor="t" lIns="0" rIns="0" tIns="0" bIns="0">
            <a:noAutofit/>
          </a:bodyPr>
          <a:lstStyle/>
          <a:p>
            <a:pPr>
              <a:spcAft>
                <a:spcPts val="200"/>
              </a:spcAft>
            </a:pPr>
            <a:r>
              <a:rPr sz="3400" b="0">
                <a:solidFill>
                  <a:srgbClr val="111111"/>
                </a:solidFill>
                <a:latin typeface="Montserrat Black"/>
              </a:rPr>
              <a:t>0.904</a:t>
            </a:r>
          </a:p>
          <a:p>
            <a:r>
              <a:rPr sz="950" b="0" spc="140">
                <a:solidFill>
                  <a:srgbClr val="4A5568"/>
                </a:solidFill>
                <a:latin typeface="JetBrains Mono"/>
              </a:rPr>
              <a:t>F1</a:t>
            </a:r>
          </a:p>
        </p:txBody>
      </p:sp>
      <p:sp>
        <p:nvSpPr>
          <p:cNvPr id="9" name="TextBox 8"/>
          <p:cNvSpPr txBox="1"/>
          <p:nvPr/>
        </p:nvSpPr>
        <p:spPr>
          <a:xfrm>
            <a:off x="7248448" y="2011680"/>
            <a:ext cx="2194560" cy="822960"/>
          </a:xfrm>
          <a:prstGeom prst="rect">
            <a:avLst/>
          </a:prstGeom>
          <a:noFill/>
        </p:spPr>
        <p:txBody>
          <a:bodyPr wrap="square" anchor="t" lIns="0" rIns="0" tIns="0" bIns="0">
            <a:noAutofit/>
          </a:bodyPr>
          <a:lstStyle/>
          <a:p>
            <a:pPr>
              <a:spcAft>
                <a:spcPts val="200"/>
              </a:spcAft>
            </a:pPr>
            <a:r>
              <a:rPr sz="3400" b="0">
                <a:solidFill>
                  <a:srgbClr val="111111"/>
                </a:solidFill>
                <a:latin typeface="Montserrat Black"/>
              </a:rPr>
              <a:t>0.871</a:t>
            </a:r>
          </a:p>
          <a:p>
            <a:r>
              <a:rPr sz="950" b="0" spc="140">
                <a:solidFill>
                  <a:srgbClr val="4A5568"/>
                </a:solidFill>
                <a:latin typeface="JetBrains Mono"/>
              </a:rPr>
              <a:t>AP50</a:t>
            </a:r>
          </a:p>
        </p:txBody>
      </p:sp>
      <p:sp>
        <p:nvSpPr>
          <p:cNvPr id="10" name="TextBox 9"/>
          <p:cNvSpPr txBox="1"/>
          <p:nvPr/>
        </p:nvSpPr>
        <p:spPr>
          <a:xfrm>
            <a:off x="9461296" y="2011680"/>
            <a:ext cx="2194560" cy="822960"/>
          </a:xfrm>
          <a:prstGeom prst="rect">
            <a:avLst/>
          </a:prstGeom>
          <a:noFill/>
        </p:spPr>
        <p:txBody>
          <a:bodyPr wrap="square" anchor="t" lIns="0" rIns="0" tIns="0" bIns="0">
            <a:noAutofit/>
          </a:bodyPr>
          <a:lstStyle/>
          <a:p>
            <a:pPr>
              <a:spcAft>
                <a:spcPts val="200"/>
              </a:spcAft>
            </a:pPr>
            <a:r>
              <a:rPr sz="3400" b="0">
                <a:solidFill>
                  <a:srgbClr val="111111"/>
                </a:solidFill>
                <a:latin typeface="Montserrat Black"/>
              </a:rPr>
              <a:t>33 / 2 / 5</a:t>
            </a:r>
          </a:p>
          <a:p>
            <a:r>
              <a:rPr sz="950" b="0" spc="140">
                <a:solidFill>
                  <a:srgbClr val="4A5568"/>
                </a:solidFill>
                <a:latin typeface="JetBrains Mono"/>
              </a:rPr>
              <a:t>TP / FP / FN</a:t>
            </a:r>
          </a:p>
        </p:txBody>
      </p:sp>
      <p:pic>
        <p:nvPicPr>
          <p:cNvPr id="11" name="Picture 10" descr="fig_part1_examples.png"/>
          <p:cNvPicPr>
            <a:picLocks noChangeAspect="1"/>
          </p:cNvPicPr>
          <p:nvPr/>
        </p:nvPicPr>
        <p:blipFill>
          <a:blip r:embed="rId2"/>
          <a:stretch>
            <a:fillRect/>
          </a:stretch>
        </p:blipFill>
        <p:spPr>
          <a:xfrm>
            <a:off x="609904" y="3256423"/>
            <a:ext cx="10971885" cy="2036793"/>
          </a:xfrm>
          <a:prstGeom prst="rect">
            <a:avLst/>
          </a:prstGeom>
        </p:spPr>
      </p:pic>
      <p:sp>
        <p:nvSpPr>
          <p:cNvPr id="12" name="TextBox 11"/>
          <p:cNvSpPr txBox="1"/>
          <p:nvPr/>
        </p:nvSpPr>
        <p:spPr>
          <a:xfrm>
            <a:off x="609904" y="5532120"/>
            <a:ext cx="7315200" cy="274320"/>
          </a:xfrm>
          <a:prstGeom prst="rect">
            <a:avLst/>
          </a:prstGeom>
          <a:noFill/>
        </p:spPr>
        <p:txBody>
          <a:bodyPr wrap="square" anchor="t" lIns="0" rIns="0" tIns="0" bIns="0">
            <a:noAutofit/>
          </a:bodyPr>
          <a:lstStyle/>
          <a:p>
            <a:r>
              <a:rPr sz="950" b="0" i="1">
                <a:solidFill>
                  <a:srgbClr val="666666"/>
                </a:solidFill>
                <a:latin typeface="Montserrat Light"/>
              </a:rPr>
              <a:t>Test frames. Grey = ground truth, black = prediction with its confidence</a:t>
            </a:r>
          </a:p>
        </p:txBody>
      </p:sp>
      <p:sp>
        <p:nvSpPr>
          <p:cNvPr id="13" name="TextBox 12"/>
          <p:cNvSpPr txBox="1"/>
          <p:nvPr/>
        </p:nvSpPr>
        <p:spPr>
          <a:xfrm>
            <a:off x="7863840" y="5486400"/>
            <a:ext cx="3657600" cy="548640"/>
          </a:xfrm>
          <a:prstGeom prst="rect">
            <a:avLst/>
          </a:prstGeom>
          <a:noFill/>
        </p:spPr>
        <p:txBody>
          <a:bodyPr wrap="square" anchor="t" lIns="0" rIns="0" tIns="0" bIns="0">
            <a:noAutofit/>
          </a:bodyPr>
          <a:lstStyle/>
          <a:p>
            <a:pPr>
              <a:lnSpc>
                <a:spcPct val="125000"/>
              </a:lnSpc>
            </a:pPr>
            <a:r>
              <a:rPr sz="1150" b="1">
                <a:solidFill>
                  <a:srgbClr val="111111"/>
                </a:solidFill>
                <a:latin typeface="Montserrat"/>
              </a:rPr>
              <a:t>Precision is a lower bound</a:t>
            </a:r>
            <a:r>
              <a:rPr sz="1150" b="0">
                <a:solidFill>
                  <a:srgbClr val="666666"/>
                </a:solidFill>
                <a:latin typeface="Montserrat Light"/>
              </a:rPr>
              <a:t> - some frames leave visible cars unboxed.</a:t>
            </a:r>
          </a:p>
        </p:txBody>
      </p:sp>
      <p:sp>
        <p:nvSpPr>
          <p:cNvPr id="14" name="Rectangle 13"/>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6" name="Diamond 15"/>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THE PIPELINE</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Detect, track, count</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Three stages - the count depends on all three, not just the detector</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904" y="1965960"/>
            <a:ext cx="2454935" cy="77724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9632" y="2103120"/>
            <a:ext cx="2235479" cy="59436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FRAME</a:t>
            </a:r>
          </a:p>
          <a:p>
            <a:pPr>
              <a:lnSpc>
                <a:spcPct val="110000"/>
              </a:lnSpc>
            </a:pPr>
            <a:r>
              <a:rPr sz="950" b="0">
                <a:solidFill>
                  <a:srgbClr val="666666"/>
                </a:solidFill>
                <a:latin typeface="Montserrat Light"/>
              </a:rPr>
              <a:t>1798 frames, 60 s</a:t>
            </a:r>
          </a:p>
        </p:txBody>
      </p:sp>
      <p:sp>
        <p:nvSpPr>
          <p:cNvPr id="8" name="TextBox 7"/>
          <p:cNvSpPr txBox="1"/>
          <p:nvPr/>
        </p:nvSpPr>
        <p:spPr>
          <a:xfrm>
            <a:off x="3064839" y="221742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9" name="Rectangle 8"/>
          <p:cNvSpPr/>
          <p:nvPr/>
        </p:nvSpPr>
        <p:spPr>
          <a:xfrm>
            <a:off x="3448887" y="1965960"/>
            <a:ext cx="2454935" cy="77724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8615" y="2103120"/>
            <a:ext cx="2235479" cy="59436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YOLO11n</a:t>
            </a:r>
          </a:p>
          <a:p>
            <a:pPr>
              <a:lnSpc>
                <a:spcPct val="110000"/>
              </a:lnSpc>
            </a:pPr>
            <a:r>
              <a:rPr sz="950" b="0">
                <a:solidFill>
                  <a:srgbClr val="666666"/>
                </a:solidFill>
                <a:latin typeface="Montserrat Light"/>
              </a:rPr>
              <a:t>fine-tuned, one class</a:t>
            </a:r>
          </a:p>
        </p:txBody>
      </p:sp>
      <p:sp>
        <p:nvSpPr>
          <p:cNvPr id="11" name="TextBox 10"/>
          <p:cNvSpPr txBox="1"/>
          <p:nvPr/>
        </p:nvSpPr>
        <p:spPr>
          <a:xfrm>
            <a:off x="5903822" y="221742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12" name="Rectangle 11"/>
          <p:cNvSpPr/>
          <p:nvPr/>
        </p:nvSpPr>
        <p:spPr>
          <a:xfrm>
            <a:off x="6287870" y="1965960"/>
            <a:ext cx="2454935" cy="77724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7598" y="2103120"/>
            <a:ext cx="2235479" cy="59436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TRACKER</a:t>
            </a:r>
          </a:p>
          <a:p>
            <a:pPr>
              <a:lnSpc>
                <a:spcPct val="110000"/>
              </a:lnSpc>
            </a:pPr>
            <a:r>
              <a:rPr sz="950" b="0">
                <a:solidFill>
                  <a:srgbClr val="666666"/>
                </a:solidFill>
                <a:latin typeface="Montserrat Light"/>
              </a:rPr>
              <a:t>IoU + Hungarian, ours</a:t>
            </a:r>
          </a:p>
        </p:txBody>
      </p:sp>
      <p:sp>
        <p:nvSpPr>
          <p:cNvPr id="14" name="TextBox 13"/>
          <p:cNvSpPr txBox="1"/>
          <p:nvPr/>
        </p:nvSpPr>
        <p:spPr>
          <a:xfrm>
            <a:off x="8742805" y="2217420"/>
            <a:ext cx="384048" cy="274320"/>
          </a:xfrm>
          <a:prstGeom prst="rect">
            <a:avLst/>
          </a:prstGeom>
          <a:noFill/>
        </p:spPr>
        <p:txBody>
          <a:bodyPr wrap="square" anchor="t" lIns="0" rIns="0" tIns="0" bIns="0">
            <a:noAutofit/>
          </a:bodyPr>
          <a:lstStyle/>
          <a:p>
            <a:pPr algn="ctr"/>
            <a:r>
              <a:rPr sz="1300" b="0">
                <a:solidFill>
                  <a:srgbClr val="666666"/>
                </a:solidFill>
                <a:latin typeface="JetBrains Mono"/>
              </a:rPr>
              <a:t>→</a:t>
            </a:r>
          </a:p>
        </p:txBody>
      </p:sp>
      <p:sp>
        <p:nvSpPr>
          <p:cNvPr id="15" name="Rectangle 14"/>
          <p:cNvSpPr/>
          <p:nvPr/>
        </p:nvSpPr>
        <p:spPr>
          <a:xfrm>
            <a:off x="9126853" y="1965960"/>
            <a:ext cx="2454935" cy="77724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6581" y="2103120"/>
            <a:ext cx="2235479" cy="594360"/>
          </a:xfrm>
          <a:prstGeom prst="rect">
            <a:avLst/>
          </a:prstGeom>
          <a:noFill/>
        </p:spPr>
        <p:txBody>
          <a:bodyPr wrap="square" anchor="t" lIns="0" rIns="0" tIns="0" bIns="0">
            <a:noAutofit/>
          </a:bodyPr>
          <a:lstStyle/>
          <a:p>
            <a:pPr>
              <a:spcAft>
                <a:spcPts val="200"/>
              </a:spcAft>
            </a:pPr>
            <a:r>
              <a:rPr sz="1050" b="1" spc="60">
                <a:solidFill>
                  <a:srgbClr val="111111"/>
                </a:solidFill>
                <a:latin typeface="JetBrains Mono"/>
              </a:rPr>
              <a:t>LINE COUNTER</a:t>
            </a:r>
          </a:p>
          <a:p>
            <a:pPr>
              <a:lnSpc>
                <a:spcPct val="110000"/>
              </a:lnSpc>
            </a:pPr>
            <a:r>
              <a:rPr sz="950" b="0">
                <a:solidFill>
                  <a:srgbClr val="666666"/>
                </a:solidFill>
                <a:latin typeface="Montserrat Light"/>
              </a:rPr>
              <a:t>centre crosses, once per ID</a:t>
            </a:r>
          </a:p>
        </p:txBody>
      </p:sp>
      <p:pic>
        <p:nvPicPr>
          <p:cNvPr id="17" name="Picture 16" descr="pipeline_frame660.jpg"/>
          <p:cNvPicPr>
            <a:picLocks noChangeAspect="1"/>
          </p:cNvPicPr>
          <p:nvPr/>
        </p:nvPicPr>
        <p:blipFill>
          <a:blip r:embed="rId2"/>
          <a:stretch>
            <a:fillRect/>
          </a:stretch>
        </p:blipFill>
        <p:spPr>
          <a:xfrm>
            <a:off x="609904" y="2971800"/>
            <a:ext cx="5200914" cy="2926080"/>
          </a:xfrm>
          <a:prstGeom prst="rect">
            <a:avLst/>
          </a:prstGeom>
        </p:spPr>
      </p:pic>
      <p:sp>
        <p:nvSpPr>
          <p:cNvPr id="18" name="TextBox 17"/>
          <p:cNvSpPr txBox="1"/>
          <p:nvPr/>
        </p:nvSpPr>
        <p:spPr>
          <a:xfrm>
            <a:off x="7772400" y="3017520"/>
            <a:ext cx="4572000" cy="256032"/>
          </a:xfrm>
          <a:prstGeom prst="rect">
            <a:avLst/>
          </a:prstGeom>
          <a:noFill/>
        </p:spPr>
        <p:txBody>
          <a:bodyPr wrap="square" anchor="t" lIns="0" rIns="0" tIns="0" bIns="0">
            <a:noAutofit/>
          </a:bodyPr>
          <a:lstStyle/>
          <a:p>
            <a:r>
              <a:rPr sz="1000" b="0" spc="150">
                <a:solidFill>
                  <a:srgbClr val="4A5568"/>
                </a:solidFill>
                <a:latin typeface="JetBrains Mono"/>
              </a:rPr>
              <a:t>WHAT YOU SEE</a:t>
            </a:r>
          </a:p>
        </p:txBody>
      </p:sp>
      <p:sp>
        <p:nvSpPr>
          <p:cNvPr id="19" name="TextBox 18"/>
          <p:cNvSpPr txBox="1"/>
          <p:nvPr/>
        </p:nvSpPr>
        <p:spPr>
          <a:xfrm>
            <a:off x="7772400" y="3383280"/>
            <a:ext cx="3749039" cy="457200"/>
          </a:xfrm>
          <a:prstGeom prst="rect">
            <a:avLst/>
          </a:prstGeom>
          <a:noFill/>
        </p:spPr>
        <p:txBody>
          <a:bodyPr wrap="square" anchor="t" lIns="0" rIns="0" tIns="0" bIns="0">
            <a:noAutofit/>
          </a:bodyPr>
          <a:lstStyle/>
          <a:p>
            <a:pPr>
              <a:spcAft>
                <a:spcPts val="100"/>
              </a:spcAft>
            </a:pPr>
            <a:r>
              <a:rPr sz="1050" b="1" spc="40">
                <a:solidFill>
                  <a:srgbClr val="111111"/>
                </a:solidFill>
                <a:latin typeface="JetBrains Mono"/>
              </a:rPr>
              <a:t>Green box + #ID</a:t>
            </a:r>
          </a:p>
          <a:p>
            <a:pPr>
              <a:lnSpc>
                <a:spcPct val="115000"/>
              </a:lnSpc>
            </a:pPr>
            <a:r>
              <a:rPr sz="1100" b="0">
                <a:solidFill>
                  <a:srgbClr val="666666"/>
                </a:solidFill>
                <a:latin typeface="Montserrat Light"/>
              </a:rPr>
              <a:t>a confirmed track</a:t>
            </a:r>
          </a:p>
        </p:txBody>
      </p:sp>
      <p:sp>
        <p:nvSpPr>
          <p:cNvPr id="20" name="TextBox 19"/>
          <p:cNvSpPr txBox="1"/>
          <p:nvPr/>
        </p:nvSpPr>
        <p:spPr>
          <a:xfrm>
            <a:off x="7772400" y="3931920"/>
            <a:ext cx="3749039" cy="457200"/>
          </a:xfrm>
          <a:prstGeom prst="rect">
            <a:avLst/>
          </a:prstGeom>
          <a:noFill/>
        </p:spPr>
        <p:txBody>
          <a:bodyPr wrap="square" anchor="t" lIns="0" rIns="0" tIns="0" bIns="0">
            <a:noAutofit/>
          </a:bodyPr>
          <a:lstStyle/>
          <a:p>
            <a:pPr>
              <a:spcAft>
                <a:spcPts val="100"/>
              </a:spcAft>
            </a:pPr>
            <a:r>
              <a:rPr sz="1050" b="1" spc="40">
                <a:solidFill>
                  <a:srgbClr val="111111"/>
                </a:solidFill>
                <a:latin typeface="JetBrains Mono"/>
              </a:rPr>
              <a:t>Orange box</a:t>
            </a:r>
          </a:p>
          <a:p>
            <a:pPr>
              <a:lnSpc>
                <a:spcPct val="115000"/>
              </a:lnSpc>
            </a:pPr>
            <a:r>
              <a:rPr sz="1100" b="0">
                <a:solidFill>
                  <a:srgbClr val="666666"/>
                </a:solidFill>
                <a:latin typeface="Montserrat Light"/>
              </a:rPr>
              <a:t>already counted</a:t>
            </a:r>
          </a:p>
        </p:txBody>
      </p:sp>
      <p:sp>
        <p:nvSpPr>
          <p:cNvPr id="21" name="TextBox 20"/>
          <p:cNvSpPr txBox="1"/>
          <p:nvPr/>
        </p:nvSpPr>
        <p:spPr>
          <a:xfrm>
            <a:off x="7772400" y="4480559"/>
            <a:ext cx="3749039" cy="457200"/>
          </a:xfrm>
          <a:prstGeom prst="rect">
            <a:avLst/>
          </a:prstGeom>
          <a:noFill/>
        </p:spPr>
        <p:txBody>
          <a:bodyPr wrap="square" anchor="t" lIns="0" rIns="0" tIns="0" bIns="0">
            <a:noAutofit/>
          </a:bodyPr>
          <a:lstStyle/>
          <a:p>
            <a:pPr>
              <a:spcAft>
                <a:spcPts val="100"/>
              </a:spcAft>
            </a:pPr>
            <a:r>
              <a:rPr sz="1050" b="1" spc="40">
                <a:solidFill>
                  <a:srgbClr val="111111"/>
                </a:solidFill>
                <a:latin typeface="JetBrains Mono"/>
              </a:rPr>
              <a:t>Red line</a:t>
            </a:r>
          </a:p>
          <a:p>
            <a:pPr>
              <a:lnSpc>
                <a:spcPct val="115000"/>
              </a:lnSpc>
            </a:pPr>
            <a:r>
              <a:rPr sz="1100" b="0">
                <a:solidFill>
                  <a:srgbClr val="666666"/>
                </a:solidFill>
                <a:latin typeface="Montserrat Light"/>
              </a:rPr>
              <a:t>the counting line, y = 0.65</a:t>
            </a:r>
          </a:p>
        </p:txBody>
      </p:sp>
      <p:sp>
        <p:nvSpPr>
          <p:cNvPr id="22" name="TextBox 21"/>
          <p:cNvSpPr txBox="1"/>
          <p:nvPr/>
        </p:nvSpPr>
        <p:spPr>
          <a:xfrm>
            <a:off x="7772400" y="5029199"/>
            <a:ext cx="3749039" cy="457200"/>
          </a:xfrm>
          <a:prstGeom prst="rect">
            <a:avLst/>
          </a:prstGeom>
          <a:noFill/>
        </p:spPr>
        <p:txBody>
          <a:bodyPr wrap="square" anchor="t" lIns="0" rIns="0" tIns="0" bIns="0">
            <a:noAutofit/>
          </a:bodyPr>
          <a:lstStyle/>
          <a:p>
            <a:pPr>
              <a:spcAft>
                <a:spcPts val="100"/>
              </a:spcAft>
            </a:pPr>
            <a:r>
              <a:rPr sz="1050" b="1" spc="40">
                <a:solidFill>
                  <a:srgbClr val="111111"/>
                </a:solidFill>
                <a:latin typeface="JetBrains Mono"/>
              </a:rPr>
              <a:t>Panel</a:t>
            </a:r>
          </a:p>
          <a:p>
            <a:pPr>
              <a:lnSpc>
                <a:spcPct val="115000"/>
              </a:lnSpc>
            </a:pPr>
            <a:r>
              <a:rPr sz="1100" b="0">
                <a:solidFill>
                  <a:srgbClr val="666666"/>
                </a:solidFill>
                <a:latin typeface="Montserrat Light"/>
              </a:rPr>
              <a:t>running count per direction</a:t>
            </a:r>
          </a:p>
        </p:txBody>
      </p:sp>
      <p:sp>
        <p:nvSpPr>
          <p:cNvPr id="23" name="TextBox 22"/>
          <p:cNvSpPr txBox="1"/>
          <p:nvPr/>
        </p:nvSpPr>
        <p:spPr>
          <a:xfrm>
            <a:off x="7772400" y="5623560"/>
            <a:ext cx="3749039" cy="457200"/>
          </a:xfrm>
          <a:prstGeom prst="rect">
            <a:avLst/>
          </a:prstGeom>
          <a:noFill/>
        </p:spPr>
        <p:txBody>
          <a:bodyPr wrap="square" anchor="t" lIns="0" rIns="0" tIns="0" bIns="0">
            <a:noAutofit/>
          </a:bodyPr>
          <a:lstStyle/>
          <a:p>
            <a:pPr>
              <a:lnSpc>
                <a:spcPct val="125000"/>
              </a:lnSpc>
            </a:pPr>
            <a:r>
              <a:rPr sz="1150" b="1">
                <a:solidFill>
                  <a:srgbClr val="111111"/>
                </a:solidFill>
                <a:latin typeface="Montserrat"/>
              </a:rPr>
              <a:t>Counted when the centre crosses</a:t>
            </a:r>
            <a:r>
              <a:rPr sz="1150" b="0">
                <a:solidFill>
                  <a:srgbClr val="666666"/>
                </a:solidFill>
                <a:latin typeface="Montserrat Light"/>
              </a:rPr>
              <a:t> - not when it appears.</a:t>
            </a:r>
          </a:p>
        </p:txBody>
      </p:sp>
      <p:sp>
        <p:nvSpPr>
          <p:cNvPr id="24" name="Rectangle 23"/>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26" name="Diamond 25"/>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COMPARING DETECTORS</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Twice the detections, fewer vehicles counted</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Same frame, same tracker, same line - only the detector changes</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tock_vs_finetune.png"/>
          <p:cNvPicPr>
            <a:picLocks noChangeAspect="1"/>
          </p:cNvPicPr>
          <p:nvPr/>
        </p:nvPicPr>
        <p:blipFill>
          <a:blip r:embed="rId2"/>
          <a:stretch>
            <a:fillRect/>
          </a:stretch>
        </p:blipFill>
        <p:spPr>
          <a:xfrm>
            <a:off x="1544632" y="1847088"/>
            <a:ext cx="9102429" cy="2542032"/>
          </a:xfrm>
          <a:prstGeom prst="rect">
            <a:avLst/>
          </a:prstGeom>
        </p:spPr>
      </p:pic>
      <p:sp>
        <p:nvSpPr>
          <p:cNvPr id="7" name="TextBox 6"/>
          <p:cNvSpPr txBox="1"/>
          <p:nvPr/>
        </p:nvSpPr>
        <p:spPr>
          <a:xfrm>
            <a:off x="609904" y="4443984"/>
            <a:ext cx="8229600" cy="274320"/>
          </a:xfrm>
          <a:prstGeom prst="rect">
            <a:avLst/>
          </a:prstGeom>
          <a:noFill/>
        </p:spPr>
        <p:txBody>
          <a:bodyPr wrap="square" anchor="t" lIns="0" rIns="0" tIns="0" bIns="0">
            <a:noAutofit/>
          </a:bodyPr>
          <a:lstStyle/>
          <a:p>
            <a:r>
              <a:rPr sz="950" b="0" i="1">
                <a:solidFill>
                  <a:srgbClr val="666666"/>
                </a:solidFill>
                <a:latin typeface="Montserrat Light"/>
              </a:rPr>
              <a:t>A typical frame: the off-the-shelf model adds parked cars far from the line</a:t>
            </a:r>
          </a:p>
        </p:txBody>
      </p:sp>
      <p:pic>
        <p:nvPicPr>
          <p:cNvPr id="8" name="Picture 7" descr="fig_detections.png"/>
          <p:cNvPicPr>
            <a:picLocks noChangeAspect="1"/>
          </p:cNvPicPr>
          <p:nvPr/>
        </p:nvPicPr>
        <p:blipFill>
          <a:blip r:embed="rId3"/>
          <a:stretch>
            <a:fillRect/>
          </a:stretch>
        </p:blipFill>
        <p:spPr>
          <a:xfrm>
            <a:off x="609904" y="4709160"/>
            <a:ext cx="2964117" cy="1325880"/>
          </a:xfrm>
          <a:prstGeom prst="rect">
            <a:avLst/>
          </a:prstGeom>
        </p:spPr>
      </p:pic>
      <p:sp>
        <p:nvSpPr>
          <p:cNvPr id="9" name="TextBox 8"/>
          <p:cNvSpPr txBox="1"/>
          <p:nvPr/>
        </p:nvSpPr>
        <p:spPr>
          <a:xfrm>
            <a:off x="7680960" y="4754880"/>
            <a:ext cx="3840480" cy="1280160"/>
          </a:xfrm>
          <a:prstGeom prst="rect">
            <a:avLst/>
          </a:prstGeom>
          <a:noFill/>
        </p:spPr>
        <p:txBody>
          <a:bodyPr wrap="square" anchor="t" lIns="0" rIns="0" tIns="0" bIns="0">
            <a:noAutofit/>
          </a:bodyPr>
          <a:lstStyle/>
          <a:p>
            <a:pPr>
              <a:lnSpc>
                <a:spcPct val="130000"/>
              </a:lnSpc>
            </a:pPr>
            <a:r>
              <a:rPr sz="1300" b="1">
                <a:solidFill>
                  <a:srgbClr val="111111"/>
                </a:solidFill>
                <a:latin typeface="Montserrat"/>
              </a:rPr>
              <a:t>Fine-tuning helped - we predicted it would hurt.</a:t>
            </a:r>
          </a:p>
          <a:p>
            <a:pPr>
              <a:lnSpc>
                <a:spcPct val="130000"/>
              </a:lnSpc>
              <a:spcBef>
                <a:spcPts val="600"/>
              </a:spcBef>
            </a:pPr>
            <a:r>
              <a:rPr sz="1150" b="0">
                <a:solidFill>
                  <a:srgbClr val="666666"/>
                </a:solidFill>
                <a:latin typeface="Montserrat Light"/>
              </a:rPr>
              <a:t>Unstable boxes fragment tracks: 21.0 tracks per counted vehicle against 8.7.</a:t>
            </a:r>
          </a:p>
        </p:txBody>
      </p:sp>
      <p:sp>
        <p:nvSpPr>
          <p:cNvPr id="10" name="Rectangle 9"/>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2" name="Diamond 11"/>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THE TRACKER</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IoU association, written from scratch</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Hungarian against a greedy baseline, both unit-tested on synthetic boxes</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2057400"/>
            <a:ext cx="5577840" cy="731520"/>
          </a:xfrm>
          <a:prstGeom prst="rect">
            <a:avLst/>
          </a:prstGeom>
          <a:noFill/>
        </p:spPr>
        <p:txBody>
          <a:bodyPr wrap="square" anchor="t" lIns="0" rIns="0" tIns="0" bIns="0">
            <a:noAutofit/>
          </a:bodyPr>
          <a:lstStyle/>
          <a:p>
            <a:pPr>
              <a:spcAft>
                <a:spcPts val="200"/>
              </a:spcAft>
            </a:pPr>
            <a:r>
              <a:rPr sz="1400" b="0">
                <a:solidFill>
                  <a:srgbClr val="111111"/>
                </a:solidFill>
                <a:latin typeface="Montserrat Black"/>
              </a:rPr>
              <a:t>01  </a:t>
            </a:r>
            <a:r>
              <a:rPr sz="1350" b="1">
                <a:solidFill>
                  <a:srgbClr val="111111"/>
                </a:solidFill>
                <a:latin typeface="Montserrat"/>
              </a:rPr>
              <a:t>Associate detections to tracks by IoU, above 0.3</a:t>
            </a:r>
          </a:p>
          <a:p>
            <a:pPr>
              <a:lnSpc>
                <a:spcPct val="120000"/>
              </a:lnSpc>
            </a:pPr>
            <a:r>
              <a:rPr sz="1150" b="0">
                <a:solidFill>
                  <a:srgbClr val="666666"/>
                </a:solidFill>
                <a:latin typeface="Montserrat Light"/>
              </a:rPr>
              <a:t>Hungarian is optimal over the whole frame; greedy takes the best pair first.</a:t>
            </a:r>
          </a:p>
        </p:txBody>
      </p:sp>
      <p:sp>
        <p:nvSpPr>
          <p:cNvPr id="7" name="Rectangle 6"/>
          <p:cNvSpPr/>
          <p:nvPr/>
        </p:nvSpPr>
        <p:spPr>
          <a:xfrm>
            <a:off x="609904" y="2743200"/>
            <a:ext cx="5577840"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2834640"/>
            <a:ext cx="5577840" cy="731520"/>
          </a:xfrm>
          <a:prstGeom prst="rect">
            <a:avLst/>
          </a:prstGeom>
          <a:noFill/>
        </p:spPr>
        <p:txBody>
          <a:bodyPr wrap="square" anchor="t" lIns="0" rIns="0" tIns="0" bIns="0">
            <a:noAutofit/>
          </a:bodyPr>
          <a:lstStyle/>
          <a:p>
            <a:pPr>
              <a:spcAft>
                <a:spcPts val="200"/>
              </a:spcAft>
            </a:pPr>
            <a:r>
              <a:rPr sz="1400" b="0">
                <a:solidFill>
                  <a:srgbClr val="111111"/>
                </a:solidFill>
                <a:latin typeface="Montserrat Black"/>
              </a:rPr>
              <a:t>02  </a:t>
            </a:r>
            <a:r>
              <a:rPr sz="1350" b="1">
                <a:solidFill>
                  <a:srgbClr val="111111"/>
                </a:solidFill>
                <a:latin typeface="Montserrat"/>
              </a:rPr>
              <a:t>Confirm before counting, forget after 0.33 s unseen</a:t>
            </a:r>
          </a:p>
          <a:p>
            <a:pPr>
              <a:lnSpc>
                <a:spcPct val="120000"/>
              </a:lnSpc>
            </a:pPr>
            <a:r>
              <a:rPr sz="1150" b="0">
                <a:solidFill>
                  <a:srgbClr val="666666"/>
                </a:solidFill>
                <a:latin typeface="Montserrat Light"/>
              </a:rPr>
              <a:t>Thresholds in seconds, scaled by the video's own frame rate.</a:t>
            </a:r>
          </a:p>
        </p:txBody>
      </p:sp>
      <p:sp>
        <p:nvSpPr>
          <p:cNvPr id="9" name="Rectangle 8"/>
          <p:cNvSpPr/>
          <p:nvPr/>
        </p:nvSpPr>
        <p:spPr>
          <a:xfrm>
            <a:off x="609904" y="3520440"/>
            <a:ext cx="5577840"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3611880"/>
            <a:ext cx="5577840" cy="731520"/>
          </a:xfrm>
          <a:prstGeom prst="rect">
            <a:avLst/>
          </a:prstGeom>
          <a:noFill/>
        </p:spPr>
        <p:txBody>
          <a:bodyPr wrap="square" anchor="t" lIns="0" rIns="0" tIns="0" bIns="0">
            <a:noAutofit/>
          </a:bodyPr>
          <a:lstStyle/>
          <a:p>
            <a:pPr>
              <a:spcAft>
                <a:spcPts val="200"/>
              </a:spcAft>
            </a:pPr>
            <a:r>
              <a:rPr sz="1400" b="0">
                <a:solidFill>
                  <a:srgbClr val="111111"/>
                </a:solidFill>
                <a:latin typeface="Montserrat Black"/>
              </a:rPr>
              <a:t>03  </a:t>
            </a:r>
            <a:r>
              <a:rPr sz="1350" b="1">
                <a:solidFill>
                  <a:srgbClr val="111111"/>
                </a:solidFill>
                <a:latin typeface="Montserrat"/>
              </a:rPr>
              <a:t>Count when the centre crosses, once per ID</a:t>
            </a:r>
          </a:p>
          <a:p>
            <a:pPr>
              <a:lnSpc>
                <a:spcPct val="120000"/>
              </a:lnSpc>
            </a:pPr>
            <a:r>
              <a:rPr sz="1150" b="0">
                <a:solidFill>
                  <a:srgbClr val="666666"/>
                </a:solidFill>
                <a:latin typeface="Montserrat Light"/>
              </a:rPr>
              <a:t>A proper segment intersection, so the line's infinite extension does not count.</a:t>
            </a:r>
          </a:p>
        </p:txBody>
      </p:sp>
      <p:sp>
        <p:nvSpPr>
          <p:cNvPr id="11" name="Rectangle 10"/>
          <p:cNvSpPr/>
          <p:nvPr/>
        </p:nvSpPr>
        <p:spPr>
          <a:xfrm>
            <a:off x="609904" y="4297680"/>
            <a:ext cx="5577840"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ajectories_all.jpg"/>
          <p:cNvPicPr>
            <a:picLocks noChangeAspect="1"/>
          </p:cNvPicPr>
          <p:nvPr/>
        </p:nvPicPr>
        <p:blipFill>
          <a:blip r:embed="rId2"/>
          <a:stretch>
            <a:fillRect/>
          </a:stretch>
        </p:blipFill>
        <p:spPr>
          <a:xfrm>
            <a:off x="6583680" y="2063115"/>
            <a:ext cx="4937760" cy="2777490"/>
          </a:xfrm>
          <a:prstGeom prst="rect">
            <a:avLst/>
          </a:prstGeom>
        </p:spPr>
      </p:pic>
      <p:sp>
        <p:nvSpPr>
          <p:cNvPr id="13" name="TextBox 12"/>
          <p:cNvSpPr txBox="1"/>
          <p:nvPr/>
        </p:nvSpPr>
        <p:spPr>
          <a:xfrm>
            <a:off x="6583680" y="4901184"/>
            <a:ext cx="4937760" cy="274320"/>
          </a:xfrm>
          <a:prstGeom prst="rect">
            <a:avLst/>
          </a:prstGeom>
          <a:noFill/>
        </p:spPr>
        <p:txBody>
          <a:bodyPr wrap="square" anchor="t" lIns="0" rIns="0" tIns="0" bIns="0">
            <a:noAutofit/>
          </a:bodyPr>
          <a:lstStyle/>
          <a:p>
            <a:r>
              <a:rPr sz="950" b="0" i="1">
                <a:solidFill>
                  <a:srgbClr val="666666"/>
                </a:solidFill>
                <a:latin typeface="Montserrat Light"/>
              </a:rPr>
              <a:t>Every tracked path in the clip - 408 tracks for 47 counted vehicles</a:t>
            </a:r>
          </a:p>
        </p:txBody>
      </p:sp>
      <p:sp>
        <p:nvSpPr>
          <p:cNvPr id="14" name="TextBox 13"/>
          <p:cNvSpPr txBox="1"/>
          <p:nvPr/>
        </p:nvSpPr>
        <p:spPr>
          <a:xfrm>
            <a:off x="609904" y="4846320"/>
            <a:ext cx="5669280" cy="1188720"/>
          </a:xfrm>
          <a:prstGeom prst="rect">
            <a:avLst/>
          </a:prstGeom>
          <a:noFill/>
        </p:spPr>
        <p:txBody>
          <a:bodyPr wrap="square" anchor="t" lIns="0" rIns="0" tIns="0" bIns="0">
            <a:noAutofit/>
          </a:bodyPr>
          <a:lstStyle/>
          <a:p>
            <a:pPr>
              <a:lnSpc>
                <a:spcPct val="130000"/>
              </a:lnSpc>
            </a:pPr>
            <a:r>
              <a:rPr sz="1300" b="1">
                <a:solidFill>
                  <a:srgbClr val="111111"/>
                </a:solidFill>
                <a:latin typeface="Montserrat"/>
              </a:rPr>
              <a:t>A bug the unit tests caught, and the video never would have.</a:t>
            </a:r>
          </a:p>
          <a:p>
            <a:pPr>
              <a:lnSpc>
                <a:spcPct val="130000"/>
              </a:lnSpc>
              <a:spcBef>
                <a:spcPts val="600"/>
              </a:spcBef>
            </a:pPr>
            <a:r>
              <a:rPr sz="1150" b="0">
                <a:solidFill>
                  <a:srgbClr val="666666"/>
                </a:solidFill>
                <a:latin typeface="Montserrat Light"/>
              </a:rPr>
              <a:t>A centre landing exactly on the line was a third state, so the crossing vanished. On screen that looks like nothing at all - just a count that is too low.</a:t>
            </a:r>
          </a:p>
        </p:txBody>
      </p:sp>
      <p:sp>
        <p:nvSpPr>
          <p:cNvPr id="15" name="Rectangle 14"/>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7" name="Diamond 16"/>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THE HARD PART</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Choosing the video, not writing the tracker</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The binding requirement is invisible in a still frame</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2029968"/>
            <a:ext cx="3108960" cy="274320"/>
          </a:xfrm>
          <a:prstGeom prst="rect">
            <a:avLst/>
          </a:prstGeom>
          <a:noFill/>
        </p:spPr>
        <p:txBody>
          <a:bodyPr wrap="square" anchor="t" lIns="0" rIns="0" tIns="0" bIns="0">
            <a:noAutofit/>
          </a:bodyPr>
          <a:lstStyle/>
          <a:p>
            <a:r>
              <a:rPr sz="900" b="0" spc="140">
                <a:solidFill>
                  <a:srgbClr val="4A5568"/>
                </a:solidFill>
                <a:latin typeface="JetBrains Mono"/>
              </a:rPr>
              <a:t>CANDIDATE</a:t>
            </a:r>
          </a:p>
        </p:txBody>
      </p:sp>
      <p:sp>
        <p:nvSpPr>
          <p:cNvPr id="7" name="TextBox 6"/>
          <p:cNvSpPr txBox="1"/>
          <p:nvPr/>
        </p:nvSpPr>
        <p:spPr>
          <a:xfrm>
            <a:off x="3718604" y="2029968"/>
            <a:ext cx="3108960" cy="274320"/>
          </a:xfrm>
          <a:prstGeom prst="rect">
            <a:avLst/>
          </a:prstGeom>
          <a:noFill/>
        </p:spPr>
        <p:txBody>
          <a:bodyPr wrap="square" anchor="t" lIns="0" rIns="0" tIns="0" bIns="0">
            <a:noAutofit/>
          </a:bodyPr>
          <a:lstStyle/>
          <a:p>
            <a:r>
              <a:rPr sz="900" b="0" spc="140">
                <a:solidFill>
                  <a:srgbClr val="4A5568"/>
                </a:solidFill>
                <a:latin typeface="JetBrains Mono"/>
              </a:rPr>
              <a:t>DET/FRAME</a:t>
            </a:r>
          </a:p>
        </p:txBody>
      </p:sp>
      <p:sp>
        <p:nvSpPr>
          <p:cNvPr id="8" name="TextBox 7"/>
          <p:cNvSpPr txBox="1"/>
          <p:nvPr/>
        </p:nvSpPr>
        <p:spPr>
          <a:xfrm>
            <a:off x="4998658" y="2029968"/>
            <a:ext cx="3108960" cy="274320"/>
          </a:xfrm>
          <a:prstGeom prst="rect">
            <a:avLst/>
          </a:prstGeom>
          <a:noFill/>
        </p:spPr>
        <p:txBody>
          <a:bodyPr wrap="square" anchor="t" lIns="0" rIns="0" tIns="0" bIns="0">
            <a:noAutofit/>
          </a:bodyPr>
          <a:lstStyle/>
          <a:p>
            <a:r>
              <a:rPr sz="900" b="0" spc="140">
                <a:solidFill>
                  <a:srgbClr val="4A5568"/>
                </a:solidFill>
                <a:latin typeface="JetBrains Mono"/>
              </a:rPr>
              <a:t>MOVING TRACKS</a:t>
            </a:r>
          </a:p>
        </p:txBody>
      </p:sp>
      <p:sp>
        <p:nvSpPr>
          <p:cNvPr id="9" name="TextBox 8"/>
          <p:cNvSpPr txBox="1"/>
          <p:nvPr/>
        </p:nvSpPr>
        <p:spPr>
          <a:xfrm>
            <a:off x="6461576" y="2029968"/>
            <a:ext cx="3108960" cy="274320"/>
          </a:xfrm>
          <a:prstGeom prst="rect">
            <a:avLst/>
          </a:prstGeom>
          <a:noFill/>
        </p:spPr>
        <p:txBody>
          <a:bodyPr wrap="square" anchor="t" lIns="0" rIns="0" tIns="0" bIns="0">
            <a:noAutofit/>
          </a:bodyPr>
          <a:lstStyle/>
          <a:p>
            <a:r>
              <a:rPr sz="900" b="0" spc="140">
                <a:solidFill>
                  <a:srgbClr val="4A5568"/>
                </a:solidFill>
                <a:latin typeface="JetBrains Mono"/>
              </a:rPr>
              <a:t>BEST LINE</a:t>
            </a:r>
          </a:p>
        </p:txBody>
      </p:sp>
      <p:sp>
        <p:nvSpPr>
          <p:cNvPr id="10" name="TextBox 9"/>
          <p:cNvSpPr txBox="1"/>
          <p:nvPr/>
        </p:nvSpPr>
        <p:spPr>
          <a:xfrm>
            <a:off x="7924494" y="2029968"/>
            <a:ext cx="3108960" cy="274320"/>
          </a:xfrm>
          <a:prstGeom prst="rect">
            <a:avLst/>
          </a:prstGeom>
          <a:noFill/>
        </p:spPr>
        <p:txBody>
          <a:bodyPr wrap="square" anchor="t" lIns="0" rIns="0" tIns="0" bIns="0">
            <a:noAutofit/>
          </a:bodyPr>
          <a:lstStyle/>
          <a:p>
            <a:r>
              <a:rPr sz="900" b="0" spc="140">
                <a:solidFill>
                  <a:srgbClr val="4A5568"/>
                </a:solidFill>
                <a:latin typeface="JetBrains Mono"/>
              </a:rPr>
              <a:t>VERDICT</a:t>
            </a:r>
          </a:p>
        </p:txBody>
      </p:sp>
      <p:sp>
        <p:nvSpPr>
          <p:cNvPr id="11" name="Rectangle 10"/>
          <p:cNvSpPr/>
          <p:nvPr/>
        </p:nvSpPr>
        <p:spPr>
          <a:xfrm>
            <a:off x="609904" y="2340864"/>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2450592"/>
            <a:ext cx="2998972" cy="365760"/>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Dual carriageway, dusk</a:t>
            </a:r>
          </a:p>
        </p:txBody>
      </p:sp>
      <p:sp>
        <p:nvSpPr>
          <p:cNvPr id="13" name="TextBox 12"/>
          <p:cNvSpPr txBox="1"/>
          <p:nvPr/>
        </p:nvSpPr>
        <p:spPr>
          <a:xfrm>
            <a:off x="3718604" y="2450592"/>
            <a:ext cx="1170325"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18.7</a:t>
            </a:r>
          </a:p>
        </p:txBody>
      </p:sp>
      <p:sp>
        <p:nvSpPr>
          <p:cNvPr id="14" name="TextBox 13"/>
          <p:cNvSpPr txBox="1"/>
          <p:nvPr/>
        </p:nvSpPr>
        <p:spPr>
          <a:xfrm>
            <a:off x="4998658" y="245059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8</a:t>
            </a:r>
          </a:p>
        </p:txBody>
      </p:sp>
      <p:sp>
        <p:nvSpPr>
          <p:cNvPr id="15" name="TextBox 14"/>
          <p:cNvSpPr txBox="1"/>
          <p:nvPr/>
        </p:nvSpPr>
        <p:spPr>
          <a:xfrm>
            <a:off x="6461576" y="245059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3 crossings</a:t>
            </a:r>
          </a:p>
        </p:txBody>
      </p:sp>
      <p:sp>
        <p:nvSpPr>
          <p:cNvPr id="16" name="TextBox 15"/>
          <p:cNvSpPr txBox="1"/>
          <p:nvPr/>
        </p:nvSpPr>
        <p:spPr>
          <a:xfrm>
            <a:off x="7924494" y="2450592"/>
            <a:ext cx="3547567" cy="365760"/>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too dense to hand-count</a:t>
            </a:r>
          </a:p>
        </p:txBody>
      </p:sp>
      <p:sp>
        <p:nvSpPr>
          <p:cNvPr id="17" name="Rectangle 16"/>
          <p:cNvSpPr/>
          <p:nvPr/>
        </p:nvSpPr>
        <p:spPr>
          <a:xfrm>
            <a:off x="609904" y="2743200"/>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2816352"/>
            <a:ext cx="2998972" cy="365760"/>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US freeway</a:t>
            </a:r>
          </a:p>
        </p:txBody>
      </p:sp>
      <p:sp>
        <p:nvSpPr>
          <p:cNvPr id="19" name="TextBox 18"/>
          <p:cNvSpPr txBox="1"/>
          <p:nvPr/>
        </p:nvSpPr>
        <p:spPr>
          <a:xfrm>
            <a:off x="3718604" y="2816352"/>
            <a:ext cx="1170325"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16.2</a:t>
            </a:r>
          </a:p>
        </p:txBody>
      </p:sp>
      <p:sp>
        <p:nvSpPr>
          <p:cNvPr id="20" name="TextBox 19"/>
          <p:cNvSpPr txBox="1"/>
          <p:nvPr/>
        </p:nvSpPr>
        <p:spPr>
          <a:xfrm>
            <a:off x="4998658" y="281635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a:t>
            </a:r>
          </a:p>
        </p:txBody>
      </p:sp>
      <p:sp>
        <p:nvSpPr>
          <p:cNvPr id="21" name="TextBox 20"/>
          <p:cNvSpPr txBox="1"/>
          <p:nvPr/>
        </p:nvSpPr>
        <p:spPr>
          <a:xfrm>
            <a:off x="6461576" y="281635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a:t>
            </a:r>
          </a:p>
        </p:txBody>
      </p:sp>
      <p:sp>
        <p:nvSpPr>
          <p:cNvPr id="22" name="TextBox 21"/>
          <p:cNvSpPr txBox="1"/>
          <p:nvPr/>
        </p:nvSpPr>
        <p:spPr>
          <a:xfrm>
            <a:off x="7924494" y="2816352"/>
            <a:ext cx="3547567" cy="365760"/>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licence forbids redistribution</a:t>
            </a:r>
          </a:p>
        </p:txBody>
      </p:sp>
      <p:sp>
        <p:nvSpPr>
          <p:cNvPr id="23" name="Rectangle 22"/>
          <p:cNvSpPr/>
          <p:nvPr/>
        </p:nvSpPr>
        <p:spPr>
          <a:xfrm>
            <a:off x="609904" y="3108960"/>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 y="3182112"/>
            <a:ext cx="2998972" cy="365760"/>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Daylight, free-flowing</a:t>
            </a:r>
          </a:p>
        </p:txBody>
      </p:sp>
      <p:sp>
        <p:nvSpPr>
          <p:cNvPr id="25" name="TextBox 24"/>
          <p:cNvSpPr txBox="1"/>
          <p:nvPr/>
        </p:nvSpPr>
        <p:spPr>
          <a:xfrm>
            <a:off x="3718604" y="3182112"/>
            <a:ext cx="1170325"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7.4</a:t>
            </a:r>
          </a:p>
        </p:txBody>
      </p:sp>
      <p:sp>
        <p:nvSpPr>
          <p:cNvPr id="26" name="TextBox 25"/>
          <p:cNvSpPr txBox="1"/>
          <p:nvPr/>
        </p:nvSpPr>
        <p:spPr>
          <a:xfrm>
            <a:off x="4998658" y="318211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22</a:t>
            </a:r>
          </a:p>
        </p:txBody>
      </p:sp>
      <p:sp>
        <p:nvSpPr>
          <p:cNvPr id="27" name="TextBox 26"/>
          <p:cNvSpPr txBox="1"/>
          <p:nvPr/>
        </p:nvSpPr>
        <p:spPr>
          <a:xfrm>
            <a:off x="6461576" y="318211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12 / 0</a:t>
            </a:r>
          </a:p>
        </p:txBody>
      </p:sp>
      <p:sp>
        <p:nvSpPr>
          <p:cNvPr id="28" name="TextBox 27"/>
          <p:cNvSpPr txBox="1"/>
          <p:nvPr/>
        </p:nvSpPr>
        <p:spPr>
          <a:xfrm>
            <a:off x="7924494" y="3182112"/>
            <a:ext cx="3547567" cy="365760"/>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one direction only</a:t>
            </a:r>
          </a:p>
        </p:txBody>
      </p:sp>
      <p:sp>
        <p:nvSpPr>
          <p:cNvPr id="29" name="Rectangle 28"/>
          <p:cNvSpPr/>
          <p:nvPr/>
        </p:nvSpPr>
        <p:spPr>
          <a:xfrm>
            <a:off x="609904" y="3474720"/>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904" y="3547872"/>
            <a:ext cx="2998972" cy="365760"/>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T-junction</a:t>
            </a:r>
          </a:p>
        </p:txBody>
      </p:sp>
      <p:sp>
        <p:nvSpPr>
          <p:cNvPr id="31" name="TextBox 30"/>
          <p:cNvSpPr txBox="1"/>
          <p:nvPr/>
        </p:nvSpPr>
        <p:spPr>
          <a:xfrm>
            <a:off x="3718604" y="3547872"/>
            <a:ext cx="1170325"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9.2</a:t>
            </a:r>
          </a:p>
        </p:txBody>
      </p:sp>
      <p:sp>
        <p:nvSpPr>
          <p:cNvPr id="32" name="TextBox 31"/>
          <p:cNvSpPr txBox="1"/>
          <p:nvPr/>
        </p:nvSpPr>
        <p:spPr>
          <a:xfrm>
            <a:off x="4998658" y="354787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34</a:t>
            </a:r>
          </a:p>
        </p:txBody>
      </p:sp>
      <p:sp>
        <p:nvSpPr>
          <p:cNvPr id="33" name="TextBox 32"/>
          <p:cNvSpPr txBox="1"/>
          <p:nvPr/>
        </p:nvSpPr>
        <p:spPr>
          <a:xfrm>
            <a:off x="6461576" y="3547872"/>
            <a:ext cx="1353190" cy="365760"/>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15 (14 one way)</a:t>
            </a:r>
          </a:p>
        </p:txBody>
      </p:sp>
      <p:sp>
        <p:nvSpPr>
          <p:cNvPr id="34" name="TextBox 33"/>
          <p:cNvSpPr txBox="1"/>
          <p:nvPr/>
        </p:nvSpPr>
        <p:spPr>
          <a:xfrm>
            <a:off x="7924494" y="3547872"/>
            <a:ext cx="3547567" cy="365760"/>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looked perfect - traffic disperses</a:t>
            </a:r>
          </a:p>
        </p:txBody>
      </p:sp>
      <p:sp>
        <p:nvSpPr>
          <p:cNvPr id="35" name="Rectangle 34"/>
          <p:cNvSpPr/>
          <p:nvPr/>
        </p:nvSpPr>
        <p:spPr>
          <a:xfrm>
            <a:off x="609904" y="3840480"/>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3913632"/>
            <a:ext cx="2998972" cy="365760"/>
          </a:xfrm>
          <a:prstGeom prst="rect">
            <a:avLst/>
          </a:prstGeom>
          <a:noFill/>
        </p:spPr>
        <p:txBody>
          <a:bodyPr wrap="square" anchor="t" lIns="0" rIns="0" tIns="0" bIns="0">
            <a:noAutofit/>
          </a:bodyPr>
          <a:lstStyle/>
          <a:p>
            <a:pPr>
              <a:lnSpc>
                <a:spcPct val="110000"/>
              </a:lnSpc>
            </a:pPr>
            <a:r>
              <a:rPr sz="1150" b="1">
                <a:solidFill>
                  <a:srgbClr val="111111"/>
                </a:solidFill>
                <a:latin typeface="Montserrat"/>
              </a:rPr>
              <a:t>Intersection (chosen)</a:t>
            </a:r>
          </a:p>
        </p:txBody>
      </p:sp>
      <p:sp>
        <p:nvSpPr>
          <p:cNvPr id="37" name="TextBox 36"/>
          <p:cNvSpPr txBox="1"/>
          <p:nvPr/>
        </p:nvSpPr>
        <p:spPr>
          <a:xfrm>
            <a:off x="3718604" y="3913632"/>
            <a:ext cx="1170325" cy="365760"/>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8.8</a:t>
            </a:r>
          </a:p>
        </p:txBody>
      </p:sp>
      <p:sp>
        <p:nvSpPr>
          <p:cNvPr id="38" name="TextBox 37"/>
          <p:cNvSpPr txBox="1"/>
          <p:nvPr/>
        </p:nvSpPr>
        <p:spPr>
          <a:xfrm>
            <a:off x="4998658" y="3913632"/>
            <a:ext cx="1353190" cy="365760"/>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93</a:t>
            </a:r>
          </a:p>
        </p:txBody>
      </p:sp>
      <p:sp>
        <p:nvSpPr>
          <p:cNvPr id="39" name="TextBox 38"/>
          <p:cNvSpPr txBox="1"/>
          <p:nvPr/>
        </p:nvSpPr>
        <p:spPr>
          <a:xfrm>
            <a:off x="6461576" y="3913632"/>
            <a:ext cx="1353190" cy="365760"/>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42 = 31 / 11</a:t>
            </a:r>
          </a:p>
        </p:txBody>
      </p:sp>
      <p:sp>
        <p:nvSpPr>
          <p:cNvPr id="40" name="TextBox 39"/>
          <p:cNvSpPr txBox="1"/>
          <p:nvPr/>
        </p:nvSpPr>
        <p:spPr>
          <a:xfrm>
            <a:off x="7924494" y="3913632"/>
            <a:ext cx="3547567" cy="365760"/>
          </a:xfrm>
          <a:prstGeom prst="rect">
            <a:avLst/>
          </a:prstGeom>
          <a:noFill/>
        </p:spPr>
        <p:txBody>
          <a:bodyPr wrap="square" anchor="t" lIns="0" rIns="0" tIns="0" bIns="0">
            <a:noAutofit/>
          </a:bodyPr>
          <a:lstStyle/>
          <a:p>
            <a:pPr>
              <a:lnSpc>
                <a:spcPct val="110000"/>
              </a:lnSpc>
            </a:pPr>
            <a:r>
              <a:rPr sz="1150" b="1">
                <a:solidFill>
                  <a:srgbClr val="111111"/>
                </a:solidFill>
                <a:latin typeface="Montserrat"/>
              </a:rPr>
              <a:t>one line, both flows</a:t>
            </a:r>
          </a:p>
        </p:txBody>
      </p:sp>
      <p:sp>
        <p:nvSpPr>
          <p:cNvPr id="41" name="Rectangle 40"/>
          <p:cNvSpPr/>
          <p:nvPr/>
        </p:nvSpPr>
        <p:spPr>
          <a:xfrm>
            <a:off x="609904" y="4206240"/>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trajectories_counted.jpg"/>
          <p:cNvPicPr>
            <a:picLocks noChangeAspect="1"/>
          </p:cNvPicPr>
          <p:nvPr/>
        </p:nvPicPr>
        <p:blipFill>
          <a:blip r:embed="rId2"/>
          <a:stretch>
            <a:fillRect/>
          </a:stretch>
        </p:blipFill>
        <p:spPr>
          <a:xfrm>
            <a:off x="7680960" y="4370832"/>
            <a:ext cx="2926080" cy="1645920"/>
          </a:xfrm>
          <a:prstGeom prst="rect">
            <a:avLst/>
          </a:prstGeom>
        </p:spPr>
      </p:pic>
      <p:sp>
        <p:nvSpPr>
          <p:cNvPr id="43" name="TextBox 42"/>
          <p:cNvSpPr txBox="1"/>
          <p:nvPr/>
        </p:nvSpPr>
        <p:spPr>
          <a:xfrm>
            <a:off x="609904" y="4480560"/>
            <a:ext cx="5852160" cy="1463040"/>
          </a:xfrm>
          <a:prstGeom prst="rect">
            <a:avLst/>
          </a:prstGeom>
          <a:noFill/>
        </p:spPr>
        <p:txBody>
          <a:bodyPr wrap="square" anchor="t" lIns="0" rIns="0" tIns="0" bIns="0">
            <a:noAutofit/>
          </a:bodyPr>
          <a:lstStyle/>
          <a:p>
            <a:pPr>
              <a:lnSpc>
                <a:spcPct val="130000"/>
              </a:lnSpc>
            </a:pPr>
            <a:r>
              <a:rPr sz="1350" b="1">
                <a:solidFill>
                  <a:srgbClr val="111111"/>
                </a:solidFill>
                <a:latin typeface="Montserrat"/>
              </a:rPr>
              <a:t>"Both directions are visible" is not the requirement.</a:t>
            </a:r>
          </a:p>
          <a:p>
            <a:pPr>
              <a:lnSpc>
                <a:spcPct val="130000"/>
              </a:lnSpc>
              <a:spcBef>
                <a:spcPts val="600"/>
              </a:spcBef>
            </a:pPr>
            <a:r>
              <a:rPr sz="1200" b="0">
                <a:solidFill>
                  <a:srgbClr val="666666"/>
                </a:solidFill>
                <a:latin typeface="Montserrat Light"/>
              </a:rPr>
              <a:t>One line has to exist that both flows cross - and that is only visible in the trajectories.</a:t>
            </a:r>
          </a:p>
        </p:txBody>
      </p:sp>
      <p:sp>
        <p:nvSpPr>
          <p:cNvPr id="44" name="Rectangle 43"/>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46" name="Diamond 45"/>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THE COUNT</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47 counted against a manual 43</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Same 60 s, same counting rule for the human and the machine</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unts.png"/>
          <p:cNvPicPr>
            <a:picLocks noChangeAspect="1"/>
          </p:cNvPicPr>
          <p:nvPr/>
        </p:nvPicPr>
        <p:blipFill>
          <a:blip r:embed="rId2"/>
          <a:stretch>
            <a:fillRect/>
          </a:stretch>
        </p:blipFill>
        <p:spPr>
          <a:xfrm>
            <a:off x="609904" y="1965960"/>
            <a:ext cx="7129744" cy="3657600"/>
          </a:xfrm>
          <a:prstGeom prst="rect">
            <a:avLst/>
          </a:prstGeom>
        </p:spPr>
      </p:pic>
      <p:sp>
        <p:nvSpPr>
          <p:cNvPr id="7" name="TextBox 6"/>
          <p:cNvSpPr txBox="1"/>
          <p:nvPr/>
        </p:nvSpPr>
        <p:spPr>
          <a:xfrm>
            <a:off x="8138160" y="2057400"/>
            <a:ext cx="4572000" cy="256032"/>
          </a:xfrm>
          <a:prstGeom prst="rect">
            <a:avLst/>
          </a:prstGeom>
          <a:noFill/>
        </p:spPr>
        <p:txBody>
          <a:bodyPr wrap="square" anchor="t" lIns="0" rIns="0" tIns="0" bIns="0">
            <a:noAutofit/>
          </a:bodyPr>
          <a:lstStyle/>
          <a:p>
            <a:r>
              <a:rPr sz="1000" b="0" spc="150">
                <a:solidFill>
                  <a:srgbClr val="4A5568"/>
                </a:solidFill>
                <a:latin typeface="JetBrains Mono"/>
              </a:rPr>
              <a:t>RESULT</a:t>
            </a:r>
          </a:p>
        </p:txBody>
      </p:sp>
      <p:sp>
        <p:nvSpPr>
          <p:cNvPr id="8" name="TextBox 7"/>
          <p:cNvSpPr txBox="1"/>
          <p:nvPr/>
        </p:nvSpPr>
        <p:spPr>
          <a:xfrm>
            <a:off x="8138160" y="2395728"/>
            <a:ext cx="3383280" cy="2011680"/>
          </a:xfrm>
          <a:prstGeom prst="rect">
            <a:avLst/>
          </a:prstGeom>
          <a:noFill/>
        </p:spPr>
        <p:txBody>
          <a:bodyPr wrap="square" anchor="t" lIns="0" rIns="0" tIns="0" bIns="0">
            <a:noAutofit/>
          </a:bodyPr>
          <a:lstStyle/>
          <a:p>
            <a:pPr>
              <a:spcAft>
                <a:spcPts val="200"/>
              </a:spcAft>
            </a:pPr>
            <a:r>
              <a:rPr sz="3600" b="0">
                <a:solidFill>
                  <a:srgbClr val="111111"/>
                </a:solidFill>
                <a:latin typeface="Montserrat Black"/>
              </a:rPr>
              <a:t>+9.3%</a:t>
            </a:r>
          </a:p>
          <a:p>
            <a:r>
              <a:rPr sz="950" b="0" spc="140">
                <a:solidFill>
                  <a:srgbClr val="4A5568"/>
                </a:solidFill>
                <a:latin typeface="JetBrains Mono"/>
              </a:rPr>
              <a:t>NET OVER-COUNT, 4 VEHICLES</a:t>
            </a:r>
          </a:p>
          <a:p>
            <a:pPr>
              <a:lnSpc>
                <a:spcPct val="130000"/>
              </a:lnSpc>
              <a:spcBef>
                <a:spcPts val="1200"/>
              </a:spcBef>
            </a:pPr>
            <a:r>
              <a:rPr sz="1250" b="1">
                <a:solidFill>
                  <a:srgbClr val="111111"/>
                </a:solidFill>
                <a:latin typeface="Montserrat"/>
              </a:rPr>
              <a:t>Hungarian and greedy tie: 47 and 47, 29 and 29.</a:t>
            </a:r>
          </a:p>
          <a:p>
            <a:pPr>
              <a:lnSpc>
                <a:spcPct val="130000"/>
              </a:lnSpc>
              <a:spcBef>
                <a:spcPts val="800"/>
              </a:spcBef>
            </a:pPr>
            <a:r>
              <a:rPr sz="1150" b="0">
                <a:solidFill>
                  <a:srgbClr val="666666"/>
                </a:solidFill>
                <a:latin typeface="Montserrat Light"/>
              </a:rPr>
              <a:t>Without a Kalman filter a dropped frame ends a track, the vehicle returns with a new ID and crosses twice - so the error goes up, as theory says.</a:t>
            </a:r>
          </a:p>
        </p:txBody>
      </p:sp>
      <p:sp>
        <p:nvSpPr>
          <p:cNvPr id="9" name="TextBox 8"/>
          <p:cNvSpPr txBox="1"/>
          <p:nvPr/>
        </p:nvSpPr>
        <p:spPr>
          <a:xfrm>
            <a:off x="609904" y="5742432"/>
            <a:ext cx="10607040" cy="365760"/>
          </a:xfrm>
          <a:prstGeom prst="rect">
            <a:avLst/>
          </a:prstGeom>
          <a:noFill/>
        </p:spPr>
        <p:txBody>
          <a:bodyPr wrap="square" anchor="t" lIns="0" rIns="0" tIns="0" bIns="0">
            <a:noAutofit/>
          </a:bodyPr>
          <a:lstStyle/>
          <a:p>
            <a:r>
              <a:rPr sz="950" b="0" spc="120">
                <a:solidFill>
                  <a:srgbClr val="4A5568"/>
                </a:solidFill>
                <a:latin typeface="JetBrains Mono"/>
              </a:rPr>
              <a:t>STILL OPEN: THE MANUAL COUNT HAS A TOTAL, NOT A PER-DIRECTION SPLIT</a:t>
            </a:r>
          </a:p>
        </p:txBody>
      </p:sp>
      <p:sp>
        <p:nvSpPr>
          <p:cNvPr id="10" name="Rectangle 9"/>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12" name="Diamond 11"/>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RESULT</a:t>
            </a:r>
          </a:p>
        </p:txBody>
      </p:sp>
      <p:sp>
        <p:nvSpPr>
          <p:cNvPr id="3" name="TextBox 2"/>
          <p:cNvSpPr txBox="1"/>
          <p:nvPr/>
        </p:nvSpPr>
        <p:spPr>
          <a:xfrm>
            <a:off x="6675120" y="457200"/>
            <a:ext cx="4892040" cy="274320"/>
          </a:xfrm>
          <a:prstGeom prst="rect">
            <a:avLst/>
          </a:prstGeom>
          <a:noFill/>
        </p:spPr>
        <p:txBody>
          <a:bodyPr wrap="square" anchor="t" lIns="0" rIns="0" tIns="0" bIns="0">
            <a:noAutofit/>
          </a:bodyPr>
          <a:lstStyle/>
          <a:p>
            <a:pPr algn="r"/>
            <a:r>
              <a:rPr sz="1100" b="0" spc="160">
                <a:solidFill>
                  <a:srgbClr val="4A5568"/>
                </a:solidFill>
                <a:latin typeface="JetBrains Mono"/>
              </a:rPr>
              <a:t>CLICK TO PLAY</a:t>
            </a:r>
          </a:p>
        </p:txBody>
      </p:sp>
      <p:pic>
        <p:nvPicPr>
          <p:cNvPr id="4" name="counted_clip_lo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706726" y="868680"/>
            <a:ext cx="8778240" cy="4937760"/>
          </a:xfrm>
          <a:prstGeom prst="rect">
            <a:avLst/>
          </a:prstGeom>
        </p:spPr>
      </p:pic>
      <p:sp>
        <p:nvSpPr>
          <p:cNvPr id="5" name="TextBox 4"/>
          <p:cNvSpPr txBox="1"/>
          <p:nvPr/>
        </p:nvSpPr>
        <p:spPr>
          <a:xfrm>
            <a:off x="609904" y="5943600"/>
            <a:ext cx="10607040" cy="365760"/>
          </a:xfrm>
          <a:prstGeom prst="rect">
            <a:avLst/>
          </a:prstGeom>
          <a:noFill/>
        </p:spPr>
        <p:txBody>
          <a:bodyPr wrap="square" anchor="t" lIns="0" rIns="0" tIns="0" bIns="0">
            <a:noAutofit/>
          </a:bodyPr>
          <a:lstStyle/>
          <a:p>
            <a:r>
              <a:rPr sz="1000" b="0" spc="120">
                <a:solidFill>
                  <a:srgbClr val="4A5568"/>
                </a:solidFill>
                <a:latin typeface="JetBrains Mono"/>
              </a:rPr>
              <a:t>30 SECONDS OF THE COUNTED OUTPUT  ·  BOXES, TRACK IDS, THE LINE AND THE RUNNING COUNT</a:t>
            </a:r>
          </a:p>
        </p:txBody>
      </p:sp>
      <p:sp>
        <p:nvSpPr>
          <p:cNvPr id="6" name="Rectangle 5"/>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8" name="Diamond 7"/>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17</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PART 2 · IN CONTEXT</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9.3% is where a street-level camera lands</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Published counting errors, split by camera height</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SYSTEM</a:t>
            </a:r>
          </a:p>
        </p:txBody>
      </p:sp>
      <p:sp>
        <p:nvSpPr>
          <p:cNvPr id="7" name="TextBox 6"/>
          <p:cNvSpPr txBox="1"/>
          <p:nvPr/>
        </p:nvSpPr>
        <p:spPr>
          <a:xfrm>
            <a:off x="4815793"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CAMERA</a:t>
            </a:r>
          </a:p>
        </p:txBody>
      </p:sp>
      <p:sp>
        <p:nvSpPr>
          <p:cNvPr id="8" name="TextBox 7"/>
          <p:cNvSpPr txBox="1"/>
          <p:nvPr/>
        </p:nvSpPr>
        <p:spPr>
          <a:xfrm>
            <a:off x="7741629"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COUNT ERROR</a:t>
            </a:r>
          </a:p>
        </p:txBody>
      </p:sp>
      <p:sp>
        <p:nvSpPr>
          <p:cNvPr id="9" name="TextBox 8"/>
          <p:cNvSpPr txBox="1"/>
          <p:nvPr/>
        </p:nvSpPr>
        <p:spPr>
          <a:xfrm>
            <a:off x="9570276" y="2103120"/>
            <a:ext cx="3108960" cy="274320"/>
          </a:xfrm>
          <a:prstGeom prst="rect">
            <a:avLst/>
          </a:prstGeom>
          <a:noFill/>
        </p:spPr>
        <p:txBody>
          <a:bodyPr wrap="square" anchor="t" lIns="0" rIns="0" tIns="0" bIns="0">
            <a:noAutofit/>
          </a:bodyPr>
          <a:lstStyle/>
          <a:p>
            <a:r>
              <a:rPr sz="900" b="0" spc="140">
                <a:solidFill>
                  <a:srgbClr val="4A5568"/>
                </a:solidFill>
                <a:latin typeface="JetBrains Mono"/>
              </a:rPr>
              <a:t>SOURCE</a:t>
            </a:r>
          </a:p>
        </p:txBody>
      </p:sp>
      <p:sp>
        <p:nvSpPr>
          <p:cNvPr id="10" name="Rectangle 9"/>
          <p:cNvSpPr/>
          <p:nvPr/>
        </p:nvSpPr>
        <p:spPr>
          <a:xfrm>
            <a:off x="609904" y="2414015"/>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2523744"/>
            <a:ext cx="4096161" cy="38404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YOLO + visual rhythm</a:t>
            </a:r>
          </a:p>
        </p:txBody>
      </p:sp>
      <p:sp>
        <p:nvSpPr>
          <p:cNvPr id="12" name="TextBox 11"/>
          <p:cNvSpPr txBox="1"/>
          <p:nvPr/>
        </p:nvSpPr>
        <p:spPr>
          <a:xfrm>
            <a:off x="4815793" y="2523744"/>
            <a:ext cx="2816108" cy="38404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top view</a:t>
            </a:r>
          </a:p>
        </p:txBody>
      </p:sp>
      <p:sp>
        <p:nvSpPr>
          <p:cNvPr id="13" name="TextBox 12"/>
          <p:cNvSpPr txBox="1"/>
          <p:nvPr/>
        </p:nvSpPr>
        <p:spPr>
          <a:xfrm>
            <a:off x="7741629" y="2523744"/>
            <a:ext cx="1718919"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0.85-1.4%</a:t>
            </a:r>
          </a:p>
        </p:txBody>
      </p:sp>
      <p:sp>
        <p:nvSpPr>
          <p:cNvPr id="14" name="TextBox 13"/>
          <p:cNvSpPr txBox="1"/>
          <p:nvPr/>
        </p:nvSpPr>
        <p:spPr>
          <a:xfrm>
            <a:off x="9570276" y="2523744"/>
            <a:ext cx="1901784"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Ribeiro 2025</a:t>
            </a:r>
          </a:p>
        </p:txBody>
      </p:sp>
      <p:sp>
        <p:nvSpPr>
          <p:cNvPr id="15" name="Rectangle 14"/>
          <p:cNvSpPr/>
          <p:nvPr/>
        </p:nvSpPr>
        <p:spPr>
          <a:xfrm>
            <a:off x="609904" y="2834639"/>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2907791"/>
            <a:ext cx="4096161" cy="38404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YOLOv5 + DeepSORT</a:t>
            </a:r>
          </a:p>
        </p:txBody>
      </p:sp>
      <p:sp>
        <p:nvSpPr>
          <p:cNvPr id="17" name="TextBox 16"/>
          <p:cNvSpPr txBox="1"/>
          <p:nvPr/>
        </p:nvSpPr>
        <p:spPr>
          <a:xfrm>
            <a:off x="4815793" y="2907791"/>
            <a:ext cx="2816108"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CCTV, 15 m up</a:t>
            </a:r>
          </a:p>
        </p:txBody>
      </p:sp>
      <p:sp>
        <p:nvSpPr>
          <p:cNvPr id="18" name="TextBox 17"/>
          <p:cNvSpPr txBox="1"/>
          <p:nvPr/>
        </p:nvSpPr>
        <p:spPr>
          <a:xfrm>
            <a:off x="7741629" y="2907791"/>
            <a:ext cx="1718919"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1.9%</a:t>
            </a:r>
          </a:p>
        </p:txBody>
      </p:sp>
      <p:sp>
        <p:nvSpPr>
          <p:cNvPr id="19" name="TextBox 18"/>
          <p:cNvSpPr txBox="1"/>
          <p:nvPr/>
        </p:nvSpPr>
        <p:spPr>
          <a:xfrm>
            <a:off x="9570276" y="2907791"/>
            <a:ext cx="1901784"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Tashkent 2023</a:t>
            </a:r>
          </a:p>
        </p:txBody>
      </p:sp>
      <p:sp>
        <p:nvSpPr>
          <p:cNvPr id="20" name="Rectangle 19"/>
          <p:cNvSpPr/>
          <p:nvPr/>
        </p:nvSpPr>
        <p:spPr>
          <a:xfrm>
            <a:off x="609904" y="3218687"/>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3291839"/>
            <a:ext cx="4096161" cy="38404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YOLOv3 + SORT, 6 intersections</a:t>
            </a:r>
          </a:p>
        </p:txBody>
      </p:sp>
      <p:sp>
        <p:nvSpPr>
          <p:cNvPr id="22" name="TextBox 21"/>
          <p:cNvSpPr txBox="1"/>
          <p:nvPr/>
        </p:nvSpPr>
        <p:spPr>
          <a:xfrm>
            <a:off x="4815793" y="3291839"/>
            <a:ext cx="2816108"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14-40 m</a:t>
            </a:r>
          </a:p>
        </p:txBody>
      </p:sp>
      <p:sp>
        <p:nvSpPr>
          <p:cNvPr id="23" name="TextBox 22"/>
          <p:cNvSpPr txBox="1"/>
          <p:nvPr/>
        </p:nvSpPr>
        <p:spPr>
          <a:xfrm>
            <a:off x="7741629" y="3291839"/>
            <a:ext cx="1718919"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5.5%</a:t>
            </a:r>
          </a:p>
        </p:txBody>
      </p:sp>
      <p:sp>
        <p:nvSpPr>
          <p:cNvPr id="24" name="TextBox 23"/>
          <p:cNvSpPr txBox="1"/>
          <p:nvPr/>
        </p:nvSpPr>
        <p:spPr>
          <a:xfrm>
            <a:off x="9570276" y="3291839"/>
            <a:ext cx="1901784"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Khazukov 2020</a:t>
            </a:r>
          </a:p>
        </p:txBody>
      </p:sp>
      <p:sp>
        <p:nvSpPr>
          <p:cNvPr id="25" name="Rectangle 24"/>
          <p:cNvSpPr/>
          <p:nvPr/>
        </p:nvSpPr>
        <p:spPr>
          <a:xfrm>
            <a:off x="609904" y="3602735"/>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904" y="3675887"/>
            <a:ext cx="4096161" cy="384048"/>
          </a:xfrm>
          <a:prstGeom prst="rect">
            <a:avLst/>
          </a:prstGeom>
          <a:noFill/>
        </p:spPr>
        <p:txBody>
          <a:bodyPr wrap="square" anchor="t" lIns="0" rIns="0" tIns="0" bIns="0">
            <a:noAutofit/>
          </a:bodyPr>
          <a:lstStyle/>
          <a:p>
            <a:pPr>
              <a:lnSpc>
                <a:spcPct val="110000"/>
              </a:lnSpc>
            </a:pPr>
            <a:r>
              <a:rPr sz="1150" b="1">
                <a:solidFill>
                  <a:srgbClr val="111111"/>
                </a:solidFill>
                <a:latin typeface="Montserrat"/>
              </a:rPr>
              <a:t>Ours: YOLO11n + IoU/Hungarian, no Kalman</a:t>
            </a:r>
          </a:p>
        </p:txBody>
      </p:sp>
      <p:sp>
        <p:nvSpPr>
          <p:cNvPr id="27" name="TextBox 26"/>
          <p:cNvSpPr txBox="1"/>
          <p:nvPr/>
        </p:nvSpPr>
        <p:spPr>
          <a:xfrm>
            <a:off x="4815793" y="3675887"/>
            <a:ext cx="2816108" cy="384048"/>
          </a:xfrm>
          <a:prstGeom prst="rect">
            <a:avLst/>
          </a:prstGeom>
          <a:noFill/>
        </p:spPr>
        <p:txBody>
          <a:bodyPr wrap="square" anchor="t" lIns="0" rIns="0" tIns="0" bIns="0">
            <a:noAutofit/>
          </a:bodyPr>
          <a:lstStyle/>
          <a:p>
            <a:pPr>
              <a:lnSpc>
                <a:spcPct val="110000"/>
              </a:lnSpc>
            </a:pPr>
            <a:r>
              <a:rPr sz="1150" b="1">
                <a:solidFill>
                  <a:srgbClr val="111111"/>
                </a:solidFill>
                <a:latin typeface="Montserrat"/>
              </a:rPr>
              <a:t>street level</a:t>
            </a:r>
          </a:p>
        </p:txBody>
      </p:sp>
      <p:sp>
        <p:nvSpPr>
          <p:cNvPr id="28" name="TextBox 27"/>
          <p:cNvSpPr txBox="1"/>
          <p:nvPr/>
        </p:nvSpPr>
        <p:spPr>
          <a:xfrm>
            <a:off x="7741629" y="3675887"/>
            <a:ext cx="1718919" cy="384048"/>
          </a:xfrm>
          <a:prstGeom prst="rect">
            <a:avLst/>
          </a:prstGeom>
          <a:noFill/>
        </p:spPr>
        <p:txBody>
          <a:bodyPr wrap="square" anchor="t" lIns="0" rIns="0" tIns="0" bIns="0">
            <a:noAutofit/>
          </a:bodyPr>
          <a:lstStyle/>
          <a:p>
            <a:pPr>
              <a:lnSpc>
                <a:spcPct val="110000"/>
              </a:lnSpc>
            </a:pPr>
            <a:r>
              <a:rPr sz="1150" b="1">
                <a:solidFill>
                  <a:srgbClr val="111111"/>
                </a:solidFill>
                <a:latin typeface="JetBrains Mono"/>
              </a:rPr>
              <a:t>9.3%</a:t>
            </a:r>
          </a:p>
        </p:txBody>
      </p:sp>
      <p:sp>
        <p:nvSpPr>
          <p:cNvPr id="29" name="TextBox 28"/>
          <p:cNvSpPr txBox="1"/>
          <p:nvPr/>
        </p:nvSpPr>
        <p:spPr>
          <a:xfrm>
            <a:off x="9570276" y="3675887"/>
            <a:ext cx="1901784" cy="384048"/>
          </a:xfrm>
          <a:prstGeom prst="rect">
            <a:avLst/>
          </a:prstGeom>
          <a:noFill/>
        </p:spPr>
        <p:txBody>
          <a:bodyPr wrap="square" anchor="t" lIns="0" rIns="0" tIns="0" bIns="0">
            <a:noAutofit/>
          </a:bodyPr>
          <a:lstStyle/>
          <a:p>
            <a:pPr>
              <a:lnSpc>
                <a:spcPct val="110000"/>
              </a:lnSpc>
            </a:pPr>
            <a:r>
              <a:rPr sz="1150" b="1">
                <a:solidFill>
                  <a:srgbClr val="111111"/>
                </a:solidFill>
                <a:latin typeface="Montserrat"/>
              </a:rPr>
              <a:t>this project</a:t>
            </a:r>
          </a:p>
        </p:txBody>
      </p:sp>
      <p:sp>
        <p:nvSpPr>
          <p:cNvPr id="30" name="Rectangle 29"/>
          <p:cNvSpPr/>
          <p:nvPr/>
        </p:nvSpPr>
        <p:spPr>
          <a:xfrm>
            <a:off x="609904" y="3986783"/>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4059935"/>
            <a:ext cx="4096161" cy="38404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Best method at low vantage</a:t>
            </a:r>
          </a:p>
        </p:txBody>
      </p:sp>
      <p:sp>
        <p:nvSpPr>
          <p:cNvPr id="32" name="TextBox 31"/>
          <p:cNvSpPr txBox="1"/>
          <p:nvPr/>
        </p:nvSpPr>
        <p:spPr>
          <a:xfrm>
            <a:off x="4815793" y="4059935"/>
            <a:ext cx="2816108"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under 5 m</a:t>
            </a:r>
          </a:p>
        </p:txBody>
      </p:sp>
      <p:sp>
        <p:nvSpPr>
          <p:cNvPr id="33" name="TextBox 32"/>
          <p:cNvSpPr txBox="1"/>
          <p:nvPr/>
        </p:nvSpPr>
        <p:spPr>
          <a:xfrm>
            <a:off x="7741629" y="4059935"/>
            <a:ext cx="1718919"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9.9-11.0%</a:t>
            </a:r>
          </a:p>
        </p:txBody>
      </p:sp>
      <p:sp>
        <p:nvSpPr>
          <p:cNvPr id="34" name="TextBox 33"/>
          <p:cNvSpPr txBox="1"/>
          <p:nvPr/>
        </p:nvSpPr>
        <p:spPr>
          <a:xfrm>
            <a:off x="9570276" y="4059935"/>
            <a:ext cx="1901784"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Pakdamansavoji 2025</a:t>
            </a:r>
          </a:p>
        </p:txBody>
      </p:sp>
      <p:sp>
        <p:nvSpPr>
          <p:cNvPr id="35" name="Rectangle 34"/>
          <p:cNvSpPr/>
          <p:nvPr/>
        </p:nvSpPr>
        <p:spPr>
          <a:xfrm>
            <a:off x="609904" y="4370831"/>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4443983"/>
            <a:ext cx="4096161" cy="384048"/>
          </a:xfrm>
          <a:prstGeom prst="rect">
            <a:avLst/>
          </a:prstGeom>
          <a:noFill/>
        </p:spPr>
        <p:txBody>
          <a:bodyPr wrap="square" anchor="t" lIns="0" rIns="0" tIns="0" bIns="0">
            <a:noAutofit/>
          </a:bodyPr>
          <a:lstStyle/>
          <a:p>
            <a:pPr>
              <a:lnSpc>
                <a:spcPct val="110000"/>
              </a:lnSpc>
            </a:pPr>
            <a:r>
              <a:rPr sz="1100" b="0">
                <a:solidFill>
                  <a:srgbClr val="111111"/>
                </a:solidFill>
                <a:latin typeface="Montserrat"/>
              </a:rPr>
              <a:t>IoU tracker without Kalman, same ablation</a:t>
            </a:r>
          </a:p>
        </p:txBody>
      </p:sp>
      <p:sp>
        <p:nvSpPr>
          <p:cNvPr id="37" name="TextBox 36"/>
          <p:cNvSpPr txBox="1"/>
          <p:nvPr/>
        </p:nvSpPr>
        <p:spPr>
          <a:xfrm>
            <a:off x="4815793" y="4443983"/>
            <a:ext cx="2816108" cy="384048"/>
          </a:xfrm>
          <a:prstGeom prst="rect">
            <a:avLst/>
          </a:prstGeom>
          <a:noFill/>
        </p:spPr>
        <p:txBody>
          <a:bodyPr wrap="square" anchor="t" lIns="0" rIns="0" tIns="0" bIns="0">
            <a:noAutofit/>
          </a:bodyPr>
          <a:lstStyle/>
          <a:p>
            <a:pPr>
              <a:lnSpc>
                <a:spcPct val="110000"/>
              </a:lnSpc>
            </a:pPr>
            <a:r>
              <a:rPr sz="1100" b="0">
                <a:solidFill>
                  <a:srgbClr val="666666"/>
                </a:solidFill>
                <a:latin typeface="Montserrat"/>
              </a:rPr>
              <a:t>DOT cameras</a:t>
            </a:r>
          </a:p>
        </p:txBody>
      </p:sp>
      <p:sp>
        <p:nvSpPr>
          <p:cNvPr id="38" name="TextBox 37"/>
          <p:cNvSpPr txBox="1"/>
          <p:nvPr/>
        </p:nvSpPr>
        <p:spPr>
          <a:xfrm>
            <a:off x="7741629" y="4443983"/>
            <a:ext cx="1718919"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over 37%</a:t>
            </a:r>
          </a:p>
        </p:txBody>
      </p:sp>
      <p:sp>
        <p:nvSpPr>
          <p:cNvPr id="39" name="TextBox 38"/>
          <p:cNvSpPr txBox="1"/>
          <p:nvPr/>
        </p:nvSpPr>
        <p:spPr>
          <a:xfrm>
            <a:off x="9570276" y="4443983"/>
            <a:ext cx="1901784" cy="384048"/>
          </a:xfrm>
          <a:prstGeom prst="rect">
            <a:avLst/>
          </a:prstGeom>
          <a:noFill/>
        </p:spPr>
        <p:txBody>
          <a:bodyPr wrap="square" anchor="t" lIns="0" rIns="0" tIns="0" bIns="0">
            <a:noAutofit/>
          </a:bodyPr>
          <a:lstStyle/>
          <a:p>
            <a:pPr>
              <a:lnSpc>
                <a:spcPct val="110000"/>
              </a:lnSpc>
            </a:pPr>
            <a:r>
              <a:rPr sz="1100" b="0">
                <a:solidFill>
                  <a:srgbClr val="666666"/>
                </a:solidFill>
                <a:latin typeface="JetBrains Mono"/>
              </a:rPr>
              <a:t>Mandal 2021</a:t>
            </a:r>
          </a:p>
        </p:txBody>
      </p:sp>
      <p:sp>
        <p:nvSpPr>
          <p:cNvPr id="40" name="Rectangle 39"/>
          <p:cNvSpPr/>
          <p:nvPr/>
        </p:nvSpPr>
        <p:spPr>
          <a:xfrm>
            <a:off x="609904" y="4754879"/>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9904" y="4983480"/>
            <a:ext cx="10607040" cy="914400"/>
          </a:xfrm>
          <a:prstGeom prst="rect">
            <a:avLst/>
          </a:prstGeom>
          <a:noFill/>
        </p:spPr>
        <p:txBody>
          <a:bodyPr wrap="square" anchor="t" lIns="0" rIns="0" tIns="0" bIns="0">
            <a:noAutofit/>
          </a:bodyPr>
          <a:lstStyle/>
          <a:p>
            <a:pPr>
              <a:lnSpc>
                <a:spcPct val="130000"/>
              </a:lnSpc>
            </a:pPr>
            <a:r>
              <a:rPr sz="1400" b="1">
                <a:solidFill>
                  <a:srgbClr val="111111"/>
                </a:solidFill>
                <a:latin typeface="Montserrat"/>
              </a:rPr>
              <a:t>Camera height explains more than the algorithm does.</a:t>
            </a:r>
          </a:p>
          <a:p>
            <a:pPr>
              <a:lnSpc>
                <a:spcPct val="135000"/>
              </a:lnSpc>
              <a:spcBef>
                <a:spcPts val="600"/>
              </a:spcBef>
            </a:pPr>
            <a:r>
              <a:rPr sz="1250" b="0">
                <a:solidFill>
                  <a:srgbClr val="666666"/>
                </a:solidFill>
                <a:latin typeface="Montserrat Light"/>
              </a:rPr>
              <a:t>The same footage scores 1.81% top-down against 28.58% in perspective view. On our clip 43.5% of detections overlap another one.</a:t>
            </a:r>
          </a:p>
        </p:txBody>
      </p:sp>
      <p:sp>
        <p:nvSpPr>
          <p:cNvPr id="42" name="Rectangle 41"/>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44" name="Diamond 43"/>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475488"/>
            <a:ext cx="10971885" cy="274320"/>
          </a:xfrm>
          <a:prstGeom prst="rect">
            <a:avLst/>
          </a:prstGeom>
          <a:noFill/>
        </p:spPr>
        <p:txBody>
          <a:bodyPr wrap="square" anchor="t" lIns="0" rIns="0" tIns="0" bIns="0">
            <a:noAutofit/>
          </a:bodyPr>
          <a:lstStyle/>
          <a:p>
            <a:r>
              <a:rPr sz="1100" b="0" spc="150">
                <a:solidFill>
                  <a:srgbClr val="4A5568"/>
                </a:solidFill>
                <a:latin typeface="JetBrains Mono"/>
              </a:rPr>
              <a:t>LIMITS AND NEXT STEPS</a:t>
            </a:r>
          </a:p>
        </p:txBody>
      </p:sp>
      <p:sp>
        <p:nvSpPr>
          <p:cNvPr id="3" name="TextBox 2"/>
          <p:cNvSpPr txBox="1"/>
          <p:nvPr/>
        </p:nvSpPr>
        <p:spPr>
          <a:xfrm>
            <a:off x="609904" y="804672"/>
            <a:ext cx="10971885" cy="502920"/>
          </a:xfrm>
          <a:prstGeom prst="rect">
            <a:avLst/>
          </a:prstGeom>
          <a:noFill/>
        </p:spPr>
        <p:txBody>
          <a:bodyPr wrap="square" anchor="t" lIns="0" rIns="0" tIns="0" bIns="0">
            <a:noAutofit/>
          </a:bodyPr>
          <a:lstStyle/>
          <a:p>
            <a:r>
              <a:rPr sz="2600" b="0">
                <a:solidFill>
                  <a:srgbClr val="111111"/>
                </a:solidFill>
                <a:latin typeface="Montserrat Light"/>
              </a:rPr>
              <a:t>What we would fix first</a:t>
            </a:r>
          </a:p>
        </p:txBody>
      </p:sp>
      <p:sp>
        <p:nvSpPr>
          <p:cNvPr id="4" name="TextBox 3"/>
          <p:cNvSpPr txBox="1"/>
          <p:nvPr/>
        </p:nvSpPr>
        <p:spPr>
          <a:xfrm>
            <a:off x="609904" y="1298448"/>
            <a:ext cx="10971885" cy="365760"/>
          </a:xfrm>
          <a:prstGeom prst="rect">
            <a:avLst/>
          </a:prstGeom>
          <a:noFill/>
        </p:spPr>
        <p:txBody>
          <a:bodyPr wrap="square" anchor="t" lIns="0" rIns="0" tIns="0" bIns="0">
            <a:noAutofit/>
          </a:bodyPr>
          <a:lstStyle/>
          <a:p>
            <a:r>
              <a:rPr sz="1500" b="1">
                <a:solidFill>
                  <a:srgbClr val="111111"/>
                </a:solidFill>
                <a:latin typeface="Montserrat"/>
              </a:rPr>
              <a:t>Measured limits, not a wish list</a:t>
            </a:r>
          </a:p>
        </p:txBody>
      </p:sp>
      <p:sp>
        <p:nvSpPr>
          <p:cNvPr id="5" name="Rectangle 4"/>
          <p:cNvSpPr/>
          <p:nvPr/>
        </p:nvSpPr>
        <p:spPr>
          <a:xfrm>
            <a:off x="609904" y="1719072"/>
            <a:ext cx="10971885" cy="127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904" y="1965960"/>
            <a:ext cx="4572000" cy="256032"/>
          </a:xfrm>
          <a:prstGeom prst="rect">
            <a:avLst/>
          </a:prstGeom>
          <a:noFill/>
        </p:spPr>
        <p:txBody>
          <a:bodyPr wrap="square" anchor="t" lIns="0" rIns="0" tIns="0" bIns="0">
            <a:noAutofit/>
          </a:bodyPr>
          <a:lstStyle/>
          <a:p>
            <a:r>
              <a:rPr sz="1000" b="0" spc="150">
                <a:solidFill>
                  <a:srgbClr val="4A5568"/>
                </a:solidFill>
                <a:latin typeface="JetBrains Mono"/>
              </a:rPr>
              <a:t>KNOWN LIMITS</a:t>
            </a:r>
          </a:p>
        </p:txBody>
      </p:sp>
      <p:sp>
        <p:nvSpPr>
          <p:cNvPr id="7" name="TextBox 6"/>
          <p:cNvSpPr txBox="1"/>
          <p:nvPr/>
        </p:nvSpPr>
        <p:spPr>
          <a:xfrm>
            <a:off x="609904" y="2331720"/>
            <a:ext cx="4937760" cy="640080"/>
          </a:xfrm>
          <a:prstGeom prst="rect">
            <a:avLst/>
          </a:prstGeom>
          <a:noFill/>
        </p:spPr>
        <p:txBody>
          <a:bodyPr wrap="square" anchor="t" lIns="0" rIns="0" tIns="0" bIns="0">
            <a:noAutofit/>
          </a:bodyPr>
          <a:lstStyle/>
          <a:p>
            <a:pPr>
              <a:spcAft>
                <a:spcPts val="100"/>
              </a:spcAft>
            </a:pPr>
            <a:r>
              <a:rPr sz="1050" b="1" spc="60">
                <a:solidFill>
                  <a:srgbClr val="111111"/>
                </a:solidFill>
                <a:latin typeface="JetBrains Mono"/>
              </a:rPr>
              <a:t>OCCLUSION</a:t>
            </a:r>
          </a:p>
          <a:p>
            <a:pPr>
              <a:lnSpc>
                <a:spcPct val="120000"/>
              </a:lnSpc>
            </a:pPr>
            <a:r>
              <a:rPr sz="1100" b="0">
                <a:solidFill>
                  <a:srgbClr val="666666"/>
                </a:solidFill>
                <a:latin typeface="Montserrat Light"/>
              </a:rPr>
              <a:t>43.5% of detections overlap another one</a:t>
            </a:r>
          </a:p>
        </p:txBody>
      </p:sp>
      <p:sp>
        <p:nvSpPr>
          <p:cNvPr id="8" name="TextBox 7"/>
          <p:cNvSpPr txBox="1"/>
          <p:nvPr/>
        </p:nvSpPr>
        <p:spPr>
          <a:xfrm>
            <a:off x="609904" y="2916936"/>
            <a:ext cx="4937760" cy="640080"/>
          </a:xfrm>
          <a:prstGeom prst="rect">
            <a:avLst/>
          </a:prstGeom>
          <a:noFill/>
        </p:spPr>
        <p:txBody>
          <a:bodyPr wrap="square" anchor="t" lIns="0" rIns="0" tIns="0" bIns="0">
            <a:noAutofit/>
          </a:bodyPr>
          <a:lstStyle/>
          <a:p>
            <a:pPr>
              <a:spcAft>
                <a:spcPts val="100"/>
              </a:spcAft>
            </a:pPr>
            <a:r>
              <a:rPr sz="1050" b="1" spc="60">
                <a:solidFill>
                  <a:srgbClr val="111111"/>
                </a:solidFill>
                <a:latin typeface="JetBrains Mono"/>
              </a:rPr>
              <a:t>OVERSIZED BOXES</a:t>
            </a:r>
          </a:p>
          <a:p>
            <a:pPr>
              <a:lnSpc>
                <a:spcPct val="120000"/>
              </a:lnSpc>
            </a:pPr>
            <a:r>
              <a:rPr sz="1100" b="0">
                <a:solidFill>
                  <a:srgbClr val="666666"/>
                </a:solidFill>
                <a:latin typeface="Montserrat Light"/>
              </a:rPr>
              <a:t>a box up to 22.7% of the frame - its centre crosses too early</a:t>
            </a:r>
          </a:p>
        </p:txBody>
      </p:sp>
      <p:sp>
        <p:nvSpPr>
          <p:cNvPr id="9" name="TextBox 8"/>
          <p:cNvSpPr txBox="1"/>
          <p:nvPr/>
        </p:nvSpPr>
        <p:spPr>
          <a:xfrm>
            <a:off x="609904" y="3502152"/>
            <a:ext cx="4937760" cy="640080"/>
          </a:xfrm>
          <a:prstGeom prst="rect">
            <a:avLst/>
          </a:prstGeom>
          <a:noFill/>
        </p:spPr>
        <p:txBody>
          <a:bodyPr wrap="square" anchor="t" lIns="0" rIns="0" tIns="0" bIns="0">
            <a:noAutofit/>
          </a:bodyPr>
          <a:lstStyle/>
          <a:p>
            <a:pPr>
              <a:spcAft>
                <a:spcPts val="100"/>
              </a:spcAft>
            </a:pPr>
            <a:r>
              <a:rPr sz="1050" b="1" spc="60">
                <a:solidFill>
                  <a:srgbClr val="111111"/>
                </a:solidFill>
                <a:latin typeface="JetBrains Mono"/>
              </a:rPr>
              <a:t>NET HIDES GROSS</a:t>
            </a:r>
          </a:p>
          <a:p>
            <a:pPr>
              <a:lnSpc>
                <a:spcPct val="120000"/>
              </a:lnSpc>
            </a:pPr>
            <a:r>
              <a:rPr sz="1100" b="0">
                <a:solidFill>
                  <a:srgbClr val="666666"/>
                </a:solidFill>
                <a:latin typeface="Montserrat Light"/>
              </a:rPr>
              <a:t>+4 could be 6 double counts and 2 misses</a:t>
            </a:r>
          </a:p>
        </p:txBody>
      </p:sp>
      <p:sp>
        <p:nvSpPr>
          <p:cNvPr id="10" name="TextBox 9"/>
          <p:cNvSpPr txBox="1"/>
          <p:nvPr/>
        </p:nvSpPr>
        <p:spPr>
          <a:xfrm>
            <a:off x="609904" y="4087368"/>
            <a:ext cx="4937760" cy="640080"/>
          </a:xfrm>
          <a:prstGeom prst="rect">
            <a:avLst/>
          </a:prstGeom>
          <a:noFill/>
        </p:spPr>
        <p:txBody>
          <a:bodyPr wrap="square" anchor="t" lIns="0" rIns="0" tIns="0" bIns="0">
            <a:noAutofit/>
          </a:bodyPr>
          <a:lstStyle/>
          <a:p>
            <a:pPr>
              <a:spcAft>
                <a:spcPts val="100"/>
              </a:spcAft>
            </a:pPr>
            <a:r>
              <a:rPr sz="1050" b="1" spc="60">
                <a:solidFill>
                  <a:srgbClr val="111111"/>
                </a:solidFill>
                <a:latin typeface="JetBrains Mono"/>
              </a:rPr>
              <a:t>ONE CLIP</a:t>
            </a:r>
          </a:p>
          <a:p>
            <a:pPr>
              <a:lnSpc>
                <a:spcPct val="120000"/>
              </a:lnSpc>
            </a:pPr>
            <a:r>
              <a:rPr sz="1100" b="0">
                <a:solidFill>
                  <a:srgbClr val="666666"/>
                </a:solidFill>
                <a:latin typeface="Montserrat Light"/>
              </a:rPr>
              <a:t>no confidence interval; one vehicle is already 2.3%</a:t>
            </a:r>
          </a:p>
        </p:txBody>
      </p:sp>
      <p:pic>
        <p:nvPicPr>
          <p:cNvPr id="11" name="Picture 10" descr="fig_oversized.png"/>
          <p:cNvPicPr>
            <a:picLocks noChangeAspect="1"/>
          </p:cNvPicPr>
          <p:nvPr/>
        </p:nvPicPr>
        <p:blipFill>
          <a:blip r:embed="rId2"/>
          <a:stretch>
            <a:fillRect/>
          </a:stretch>
        </p:blipFill>
        <p:spPr>
          <a:xfrm>
            <a:off x="609904" y="4663440"/>
            <a:ext cx="2718759" cy="1325880"/>
          </a:xfrm>
          <a:prstGeom prst="rect">
            <a:avLst/>
          </a:prstGeom>
        </p:spPr>
      </p:pic>
      <p:sp>
        <p:nvSpPr>
          <p:cNvPr id="12" name="TextBox 11"/>
          <p:cNvSpPr txBox="1"/>
          <p:nvPr/>
        </p:nvSpPr>
        <p:spPr>
          <a:xfrm>
            <a:off x="3840480" y="5074920"/>
            <a:ext cx="2103120" cy="274320"/>
          </a:xfrm>
          <a:prstGeom prst="rect">
            <a:avLst/>
          </a:prstGeom>
          <a:noFill/>
        </p:spPr>
        <p:txBody>
          <a:bodyPr wrap="square" anchor="t" lIns="0" rIns="0" tIns="0" bIns="0">
            <a:noAutofit/>
          </a:bodyPr>
          <a:lstStyle/>
          <a:p>
            <a:r>
              <a:rPr sz="950" b="0" i="1">
                <a:solidFill>
                  <a:srgbClr val="666666"/>
                </a:solidFill>
                <a:latin typeface="Montserrat Light"/>
              </a:rPr>
              <a:t>One box spanning a vehicle and the background - its centre crosses the line at the wrong moment</a:t>
            </a:r>
          </a:p>
        </p:txBody>
      </p:sp>
      <p:sp>
        <p:nvSpPr>
          <p:cNvPr id="13" name="TextBox 12"/>
          <p:cNvSpPr txBox="1"/>
          <p:nvPr/>
        </p:nvSpPr>
        <p:spPr>
          <a:xfrm>
            <a:off x="6400800" y="1965960"/>
            <a:ext cx="4572000" cy="256032"/>
          </a:xfrm>
          <a:prstGeom prst="rect">
            <a:avLst/>
          </a:prstGeom>
          <a:noFill/>
        </p:spPr>
        <p:txBody>
          <a:bodyPr wrap="square" anchor="t" lIns="0" rIns="0" tIns="0" bIns="0">
            <a:noAutofit/>
          </a:bodyPr>
          <a:lstStyle/>
          <a:p>
            <a:r>
              <a:rPr sz="1000" b="0" spc="150">
                <a:solidFill>
                  <a:srgbClr val="4A5568"/>
                </a:solidFill>
                <a:latin typeface="JetBrains Mono"/>
              </a:rPr>
              <a:t>NEXT, IN ORDER OF EXPECTED PAYOFF</a:t>
            </a:r>
          </a:p>
        </p:txBody>
      </p:sp>
      <p:sp>
        <p:nvSpPr>
          <p:cNvPr id="14" name="TextBox 13"/>
          <p:cNvSpPr txBox="1"/>
          <p:nvPr/>
        </p:nvSpPr>
        <p:spPr>
          <a:xfrm>
            <a:off x="6400800" y="2331720"/>
            <a:ext cx="5120640" cy="640080"/>
          </a:xfrm>
          <a:prstGeom prst="rect">
            <a:avLst/>
          </a:prstGeom>
          <a:noFill/>
        </p:spPr>
        <p:txBody>
          <a:bodyPr wrap="square" anchor="t" lIns="0" rIns="0" tIns="0" bIns="0">
            <a:noAutofit/>
          </a:bodyPr>
          <a:lstStyle/>
          <a:p>
            <a:pPr>
              <a:spcAft>
                <a:spcPts val="100"/>
              </a:spcAft>
            </a:pPr>
            <a:r>
              <a:rPr sz="1300" b="0">
                <a:solidFill>
                  <a:srgbClr val="111111"/>
                </a:solidFill>
                <a:latin typeface="Montserrat Black"/>
              </a:rPr>
              <a:t>01  </a:t>
            </a:r>
            <a:r>
              <a:rPr sz="1250" b="1">
                <a:solidFill>
                  <a:srgbClr val="111111"/>
                </a:solidFill>
                <a:latin typeface="Montserrat"/>
              </a:rPr>
              <a:t>A Kalman filter, or DeepSORT</a:t>
            </a:r>
          </a:p>
          <a:p>
            <a:pPr>
              <a:lnSpc>
                <a:spcPct val="120000"/>
              </a:lnSpc>
            </a:pPr>
            <a:r>
              <a:rPr sz="1100" b="0">
                <a:solidFill>
                  <a:srgbClr val="666666"/>
                </a:solidFill>
                <a:latin typeface="Montserrat Light"/>
              </a:rPr>
              <a:t>the published ablation of our exact design says the error lives here</a:t>
            </a:r>
          </a:p>
        </p:txBody>
      </p:sp>
      <p:sp>
        <p:nvSpPr>
          <p:cNvPr id="15" name="TextBox 14"/>
          <p:cNvSpPr txBox="1"/>
          <p:nvPr/>
        </p:nvSpPr>
        <p:spPr>
          <a:xfrm>
            <a:off x="6400800" y="3063239"/>
            <a:ext cx="5120640" cy="640080"/>
          </a:xfrm>
          <a:prstGeom prst="rect">
            <a:avLst/>
          </a:prstGeom>
          <a:noFill/>
        </p:spPr>
        <p:txBody>
          <a:bodyPr wrap="square" anchor="t" lIns="0" rIns="0" tIns="0" bIns="0">
            <a:noAutofit/>
          </a:bodyPr>
          <a:lstStyle/>
          <a:p>
            <a:pPr>
              <a:spcAft>
                <a:spcPts val="100"/>
              </a:spcAft>
            </a:pPr>
            <a:r>
              <a:rPr sz="1300" b="0">
                <a:solidFill>
                  <a:srgbClr val="111111"/>
                </a:solidFill>
                <a:latin typeface="Montserrat Black"/>
              </a:rPr>
              <a:t>02  </a:t>
            </a:r>
            <a:r>
              <a:rPr sz="1250" b="1">
                <a:solidFill>
                  <a:srgbClr val="111111"/>
                </a:solidFill>
                <a:latin typeface="Montserrat"/>
              </a:rPr>
              <a:t>A feature pyramid for Part 1</a:t>
            </a:r>
          </a:p>
          <a:p>
            <a:pPr>
              <a:lnSpc>
                <a:spcPct val="120000"/>
              </a:lnSpc>
            </a:pPr>
            <a:r>
              <a:rPr sz="1100" b="0">
                <a:solidFill>
                  <a:srgbClr val="666666"/>
                </a:solidFill>
                <a:latin typeface="Montserrat Light"/>
              </a:rPr>
              <a:t>every remaining miss is a vehicle under 1% of the image</a:t>
            </a:r>
          </a:p>
        </p:txBody>
      </p:sp>
      <p:sp>
        <p:nvSpPr>
          <p:cNvPr id="16" name="TextBox 15"/>
          <p:cNvSpPr txBox="1"/>
          <p:nvPr/>
        </p:nvSpPr>
        <p:spPr>
          <a:xfrm>
            <a:off x="6400800" y="3794759"/>
            <a:ext cx="5120640" cy="640080"/>
          </a:xfrm>
          <a:prstGeom prst="rect">
            <a:avLst/>
          </a:prstGeom>
          <a:noFill/>
        </p:spPr>
        <p:txBody>
          <a:bodyPr wrap="square" anchor="t" lIns="0" rIns="0" tIns="0" bIns="0">
            <a:noAutofit/>
          </a:bodyPr>
          <a:lstStyle/>
          <a:p>
            <a:pPr>
              <a:spcAft>
                <a:spcPts val="100"/>
              </a:spcAft>
            </a:pPr>
            <a:r>
              <a:rPr sz="1300" b="0">
                <a:solidFill>
                  <a:srgbClr val="111111"/>
                </a:solidFill>
                <a:latin typeface="Montserrat Black"/>
              </a:rPr>
              <a:t>03  </a:t>
            </a:r>
            <a:r>
              <a:rPr sz="1250" b="1">
                <a:solidFill>
                  <a:srgbClr val="111111"/>
                </a:solidFill>
                <a:latin typeface="Montserrat"/>
              </a:rPr>
              <a:t>Scale and viewpoint augmentation</a:t>
            </a:r>
          </a:p>
          <a:p>
            <a:pPr>
              <a:lnSpc>
                <a:spcPct val="120000"/>
              </a:lnSpc>
            </a:pPr>
            <a:r>
              <a:rPr sz="1100" b="0">
                <a:solidFill>
                  <a:srgbClr val="666666"/>
                </a:solidFill>
                <a:latin typeface="Montserrat Light"/>
              </a:rPr>
              <a:t>flip and jitter changed nothing; the data lacks scale</a:t>
            </a:r>
          </a:p>
        </p:txBody>
      </p:sp>
      <p:sp>
        <p:nvSpPr>
          <p:cNvPr id="17" name="TextBox 16"/>
          <p:cNvSpPr txBox="1"/>
          <p:nvPr/>
        </p:nvSpPr>
        <p:spPr>
          <a:xfrm>
            <a:off x="6400800" y="4526279"/>
            <a:ext cx="5120640" cy="640080"/>
          </a:xfrm>
          <a:prstGeom prst="rect">
            <a:avLst/>
          </a:prstGeom>
          <a:noFill/>
        </p:spPr>
        <p:txBody>
          <a:bodyPr wrap="square" anchor="t" lIns="0" rIns="0" tIns="0" bIns="0">
            <a:noAutofit/>
          </a:bodyPr>
          <a:lstStyle/>
          <a:p>
            <a:pPr>
              <a:spcAft>
                <a:spcPts val="100"/>
              </a:spcAft>
            </a:pPr>
            <a:r>
              <a:rPr sz="1300" b="0">
                <a:solidFill>
                  <a:srgbClr val="111111"/>
                </a:solidFill>
                <a:latin typeface="Montserrat Black"/>
              </a:rPr>
              <a:t>04  </a:t>
            </a:r>
            <a:r>
              <a:rPr sz="1250" b="1">
                <a:solidFill>
                  <a:srgbClr val="111111"/>
                </a:solidFill>
                <a:latin typeface="Montserrat"/>
              </a:rPr>
              <a:t>Finish the per-direction manual count</a:t>
            </a:r>
          </a:p>
          <a:p>
            <a:pPr>
              <a:lnSpc>
                <a:spcPct val="120000"/>
              </a:lnSpc>
            </a:pPr>
            <a:r>
              <a:rPr sz="1100" b="0">
                <a:solidFill>
                  <a:srgbClr val="666666"/>
                </a:solidFill>
                <a:latin typeface="Montserrat Light"/>
              </a:rPr>
              <a:t>the only external ground truth the project has</a:t>
            </a:r>
          </a:p>
        </p:txBody>
      </p:sp>
      <p:sp>
        <p:nvSpPr>
          <p:cNvPr id="18" name="Rectangle 17"/>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20" name="Diamond 19"/>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904" y="1188720"/>
            <a:ext cx="10971885" cy="274320"/>
          </a:xfrm>
          <a:prstGeom prst="rect">
            <a:avLst/>
          </a:prstGeom>
          <a:noFill/>
        </p:spPr>
        <p:txBody>
          <a:bodyPr wrap="square" anchor="t" lIns="0" rIns="0" tIns="0" bIns="0">
            <a:noAutofit/>
          </a:bodyPr>
          <a:lstStyle/>
          <a:p>
            <a:r>
              <a:rPr sz="1100" b="0" spc="150">
                <a:solidFill>
                  <a:srgbClr val="4A5568"/>
                </a:solidFill>
                <a:latin typeface="JetBrains Mono"/>
              </a:rPr>
              <a:t>THANK YOU · QUESTIONS</a:t>
            </a:r>
          </a:p>
        </p:txBody>
      </p:sp>
      <p:sp>
        <p:nvSpPr>
          <p:cNvPr id="3" name="TextBox 2"/>
          <p:cNvSpPr txBox="1"/>
          <p:nvPr/>
        </p:nvSpPr>
        <p:spPr>
          <a:xfrm>
            <a:off x="609904" y="1691640"/>
            <a:ext cx="11155680" cy="1371600"/>
          </a:xfrm>
          <a:prstGeom prst="rect">
            <a:avLst/>
          </a:prstGeom>
          <a:noFill/>
        </p:spPr>
        <p:txBody>
          <a:bodyPr wrap="square" anchor="t" lIns="0" rIns="0" tIns="0" bIns="0">
            <a:noAutofit/>
          </a:bodyPr>
          <a:lstStyle/>
          <a:p>
            <a:pPr>
              <a:lnSpc>
                <a:spcPct val="98000"/>
              </a:lnSpc>
            </a:pPr>
            <a:r>
              <a:rPr sz="5800" b="0">
                <a:solidFill>
                  <a:srgbClr val="111111"/>
                </a:solidFill>
                <a:latin typeface="Montserrat Black"/>
              </a:rPr>
              <a:t>IT RUNS ON DATA</a:t>
            </a:r>
          </a:p>
          <a:p>
            <a:pPr>
              <a:lnSpc>
                <a:spcPct val="98000"/>
              </a:lnSpc>
            </a:pPr>
            <a:r>
              <a:rPr sz="5800" b="0">
                <a:solidFill>
                  <a:srgbClr val="111111"/>
                </a:solidFill>
                <a:latin typeface="Montserrat Black"/>
              </a:rPr>
              <a:t>WE HAVE NEVER SEEN</a:t>
            </a:r>
          </a:p>
        </p:txBody>
      </p:sp>
      <p:sp>
        <p:nvSpPr>
          <p:cNvPr id="4" name="TextBox 3"/>
          <p:cNvSpPr txBox="1"/>
          <p:nvPr/>
        </p:nvSpPr>
        <p:spPr>
          <a:xfrm>
            <a:off x="609904" y="3840480"/>
            <a:ext cx="10607040" cy="640080"/>
          </a:xfrm>
          <a:prstGeom prst="rect">
            <a:avLst/>
          </a:prstGeom>
          <a:noFill/>
        </p:spPr>
        <p:txBody>
          <a:bodyPr wrap="square" anchor="t" lIns="0" rIns="0" tIns="0" bIns="0">
            <a:noAutofit/>
          </a:bodyPr>
          <a:lstStyle/>
          <a:p>
            <a:pPr>
              <a:spcAft>
                <a:spcPts val="200"/>
              </a:spcAft>
            </a:pPr>
            <a:r>
              <a:rPr sz="1300" b="1">
                <a:solidFill>
                  <a:srgbClr val="111111"/>
                </a:solidFill>
                <a:latin typeface="Montserrat"/>
              </a:rPr>
              <a:t>Part 1, any folder of images</a:t>
            </a:r>
          </a:p>
          <a:p>
            <a:pPr>
              <a:lnSpc>
                <a:spcPct val="120000"/>
              </a:lnSpc>
            </a:pPr>
            <a:r>
              <a:rPr sz="1050" b="0" spc="40">
                <a:solidFill>
                  <a:srgbClr val="666666"/>
                </a:solidFill>
                <a:latin typeface="JetBrains Mono"/>
              </a:rPr>
              <a:t>python -m src.part1.predict --images &lt;dir&gt; [--csv ground_truth.csv]</a:t>
            </a:r>
          </a:p>
        </p:txBody>
      </p:sp>
      <p:sp>
        <p:nvSpPr>
          <p:cNvPr id="5" name="TextBox 4"/>
          <p:cNvSpPr txBox="1"/>
          <p:nvPr/>
        </p:nvSpPr>
        <p:spPr>
          <a:xfrm>
            <a:off x="609904" y="4517136"/>
            <a:ext cx="10607040" cy="640080"/>
          </a:xfrm>
          <a:prstGeom prst="rect">
            <a:avLst/>
          </a:prstGeom>
          <a:noFill/>
        </p:spPr>
        <p:txBody>
          <a:bodyPr wrap="square" anchor="t" lIns="0" rIns="0" tIns="0" bIns="0">
            <a:noAutofit/>
          </a:bodyPr>
          <a:lstStyle/>
          <a:p>
            <a:pPr>
              <a:spcAft>
                <a:spcPts val="200"/>
              </a:spcAft>
            </a:pPr>
            <a:r>
              <a:rPr sz="1300" b="1">
                <a:solidFill>
                  <a:srgbClr val="111111"/>
                </a:solidFill>
                <a:latin typeface="Montserrat"/>
              </a:rPr>
              <a:t>Part 2, any video</a:t>
            </a:r>
          </a:p>
          <a:p>
            <a:pPr>
              <a:lnSpc>
                <a:spcPct val="120000"/>
              </a:lnSpc>
            </a:pPr>
            <a:r>
              <a:rPr sz="1050" b="0" spc="40">
                <a:solidFill>
                  <a:srgbClr val="666666"/>
                </a:solidFill>
                <a:latin typeface="JetBrains Mono"/>
              </a:rPr>
              <a:t>python -m src.part2.suggest_line --video new.mp4   then   run_count --video new.mp4</a:t>
            </a:r>
          </a:p>
        </p:txBody>
      </p:sp>
      <p:sp>
        <p:nvSpPr>
          <p:cNvPr id="6" name="TextBox 5"/>
          <p:cNvSpPr txBox="1"/>
          <p:nvPr/>
        </p:nvSpPr>
        <p:spPr>
          <a:xfrm>
            <a:off x="609904" y="5193792"/>
            <a:ext cx="10607040" cy="640080"/>
          </a:xfrm>
          <a:prstGeom prst="rect">
            <a:avLst/>
          </a:prstGeom>
          <a:noFill/>
        </p:spPr>
        <p:txBody>
          <a:bodyPr wrap="square" anchor="t" lIns="0" rIns="0" tIns="0" bIns="0">
            <a:noAutofit/>
          </a:bodyPr>
          <a:lstStyle/>
          <a:p>
            <a:pPr>
              <a:spcAft>
                <a:spcPts val="200"/>
              </a:spcAft>
            </a:pPr>
            <a:r>
              <a:rPr sz="1300" b="1">
                <a:solidFill>
                  <a:srgbClr val="111111"/>
                </a:solidFill>
                <a:latin typeface="Montserrat"/>
              </a:rPr>
              <a:t>Everything reproducible</a:t>
            </a:r>
          </a:p>
          <a:p>
            <a:pPr>
              <a:lnSpc>
                <a:spcPct val="120000"/>
              </a:lnSpc>
            </a:pPr>
            <a:r>
              <a:rPr sz="1050" b="0" spc="40">
                <a:solidFill>
                  <a:srgbClr val="666666"/>
                </a:solidFill>
                <a:latin typeface="JetBrains Mono"/>
              </a:rPr>
              <a:t>one config file, 33 unit tests, weights and the output video ship with the code</a:t>
            </a:r>
          </a:p>
        </p:txBody>
      </p:sp>
      <p:sp>
        <p:nvSpPr>
          <p:cNvPr id="7" name="Rectangle 6"/>
          <p:cNvSpPr/>
          <p:nvPr/>
        </p:nvSpPr>
        <p:spPr>
          <a:xfrm>
            <a:off x="609904" y="6144768"/>
            <a:ext cx="10971885" cy="9525"/>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904" y="6254496"/>
            <a:ext cx="8686800" cy="274320"/>
          </a:xfrm>
          <a:prstGeom prst="rect">
            <a:avLst/>
          </a:prstGeom>
          <a:noFill/>
        </p:spPr>
        <p:txBody>
          <a:bodyPr wrap="square" anchor="t" lIns="0" rIns="0" tIns="0" bIns="0">
            <a:noAutofit/>
          </a:bodyPr>
          <a:lstStyle/>
          <a:p>
            <a:r>
              <a:rPr sz="800" b="0" spc="110">
                <a:solidFill>
                  <a:srgbClr val="111111"/>
                </a:solidFill>
                <a:latin typeface="JetBrains Mono"/>
              </a:rPr>
              <a:t>VEHICLE DETECTION &amp; COUNTING</a:t>
            </a:r>
            <a:r>
              <a:rPr sz="800" b="0" spc="110">
                <a:solidFill>
                  <a:srgbClr val="666666"/>
                </a:solidFill>
                <a:latin typeface="JetBrains Mono"/>
              </a:rPr>
              <a:t>   ·   ML4CE · SEMESTER PROJECT · TOPIC 2</a:t>
            </a:r>
          </a:p>
        </p:txBody>
      </p:sp>
      <p:sp>
        <p:nvSpPr>
          <p:cNvPr id="9" name="Diamond 8"/>
          <p:cNvSpPr/>
          <p:nvPr/>
        </p:nvSpPr>
        <p:spPr>
          <a:xfrm>
            <a:off x="11430000" y="6309360"/>
            <a:ext cx="274320" cy="274320"/>
          </a:xfrm>
          <a:prstGeom prst="diamond">
            <a:avLst/>
          </a:prstGeom>
          <a:solidFill>
            <a:srgbClr val="FFFFFF"/>
          </a:solidFill>
          <a:ln w="1397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0">
                <a:solidFill>
                  <a:srgbClr val="111111"/>
                </a:solidFill>
                <a:latin typeface="JetBrains Mono"/>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